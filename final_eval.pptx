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1"/>
  </p:notesMasterIdLst>
  <p:handoutMasterIdLst>
    <p:handoutMasterId r:id="rId62"/>
  </p:handoutMasterIdLst>
  <p:sldIdLst>
    <p:sldId id="272" r:id="rId2"/>
    <p:sldId id="274" r:id="rId3"/>
    <p:sldId id="273" r:id="rId4"/>
    <p:sldId id="258" r:id="rId5"/>
    <p:sldId id="259" r:id="rId6"/>
    <p:sldId id="331" r:id="rId7"/>
    <p:sldId id="332" r:id="rId8"/>
    <p:sldId id="261" r:id="rId9"/>
    <p:sldId id="278" r:id="rId10"/>
    <p:sldId id="263" r:id="rId11"/>
    <p:sldId id="279" r:id="rId12"/>
    <p:sldId id="269" r:id="rId13"/>
    <p:sldId id="271" r:id="rId14"/>
    <p:sldId id="275" r:id="rId15"/>
    <p:sldId id="276" r:id="rId16"/>
    <p:sldId id="284" r:id="rId17"/>
    <p:sldId id="281" r:id="rId18"/>
    <p:sldId id="260" r:id="rId19"/>
    <p:sldId id="283" r:id="rId20"/>
    <p:sldId id="296" r:id="rId21"/>
    <p:sldId id="280" r:id="rId22"/>
    <p:sldId id="285" r:id="rId23"/>
    <p:sldId id="287" r:id="rId24"/>
    <p:sldId id="334" r:id="rId25"/>
    <p:sldId id="293" r:id="rId26"/>
    <p:sldId id="340" r:id="rId27"/>
    <p:sldId id="341" r:id="rId28"/>
    <p:sldId id="309" r:id="rId29"/>
    <p:sldId id="356" r:id="rId30"/>
    <p:sldId id="322" r:id="rId31"/>
    <p:sldId id="311" r:id="rId32"/>
    <p:sldId id="312" r:id="rId33"/>
    <p:sldId id="313" r:id="rId34"/>
    <p:sldId id="315" r:id="rId35"/>
    <p:sldId id="318" r:id="rId36"/>
    <p:sldId id="316" r:id="rId37"/>
    <p:sldId id="325" r:id="rId38"/>
    <p:sldId id="335" r:id="rId39"/>
    <p:sldId id="336" r:id="rId40"/>
    <p:sldId id="337" r:id="rId41"/>
    <p:sldId id="343" r:id="rId42"/>
    <p:sldId id="342" r:id="rId43"/>
    <p:sldId id="344" r:id="rId44"/>
    <p:sldId id="345" r:id="rId45"/>
    <p:sldId id="346" r:id="rId46"/>
    <p:sldId id="347" r:id="rId47"/>
    <p:sldId id="348" r:id="rId48"/>
    <p:sldId id="355" r:id="rId49"/>
    <p:sldId id="358" r:id="rId50"/>
    <p:sldId id="354" r:id="rId51"/>
    <p:sldId id="319" r:id="rId52"/>
    <p:sldId id="349" r:id="rId53"/>
    <p:sldId id="350" r:id="rId54"/>
    <p:sldId id="351" r:id="rId55"/>
    <p:sldId id="352" r:id="rId56"/>
    <p:sldId id="353" r:id="rId57"/>
    <p:sldId id="297" r:id="rId58"/>
    <p:sldId id="357" r:id="rId59"/>
    <p:sldId id="27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3" autoAdjust="0"/>
    <p:restoredTop sz="93883" autoAdjust="0"/>
  </p:normalViewPr>
  <p:slideViewPr>
    <p:cSldViewPr snapToGrid="0">
      <p:cViewPr varScale="1">
        <p:scale>
          <a:sx n="68" d="100"/>
          <a:sy n="68"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P1-P1-S-20-01</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C07EB-4237-4689-BCEC-FD229CC771D1}" type="datetime1">
              <a:rPr lang="en-US" smtClean="0"/>
              <a:t>5/15/2025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Project Title</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E0E158-A96C-43C6-AFDA-24EFFE696CDF}" type="slidenum">
              <a:rPr lang="en-US" smtClean="0"/>
              <a:t>‹#›</a:t>
            </a:fld>
            <a:endParaRPr lang="en-US"/>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P1-P1-S-20-01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9EB05-2993-4ED6-B183-9B70D1358DF2}" type="datetime1">
              <a:rPr lang="en-US" smtClean="0"/>
              <a:t>5/15/2025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Project Title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FEFBD-D254-4142-B3DF-3182BB9EBA19}" type="slidenum">
              <a:rPr lang="en-US" smtClean="0"/>
              <a:t>‹#›</a:t>
            </a:fld>
            <a:endParaRPr lang="en-US"/>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6FEFBD-D254-4142-B3DF-3182BB9EBA19}" type="slidenum">
              <a:rPr lang="en-US" smtClean="0"/>
              <a:t>1</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Header Placeholder 5"/>
          <p:cNvSpPr>
            <a:spLocks noGrp="1"/>
          </p:cNvSpPr>
          <p:nvPr>
            <p:ph type="hdr" sz="quarter" idx="12"/>
          </p:nvPr>
        </p:nvSpPr>
        <p:spPr/>
        <p:txBody>
          <a:bodyPr/>
          <a:lstStyle/>
          <a:p>
            <a:r>
              <a:rPr lang="en-US"/>
              <a:t>P1-P1-S-20-01</a:t>
            </a:r>
          </a:p>
        </p:txBody>
      </p:sp>
      <p:sp>
        <p:nvSpPr>
          <p:cNvPr id="7" name="Date Placeholder 6"/>
          <p:cNvSpPr>
            <a:spLocks noGrp="1"/>
          </p:cNvSpPr>
          <p:nvPr>
            <p:ph type="dt" idx="13"/>
          </p:nvPr>
        </p:nvSpPr>
        <p:spPr/>
        <p:txBody>
          <a:bodyPr/>
          <a:lstStyle/>
          <a:p>
            <a:fld id="{CFB96F81-DCC1-41AB-AD98-7870A6F033CE}" type="datetime1">
              <a:rPr lang="en-US" smtClean="0"/>
              <a:t>5/15/2025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607DEB5D-37EA-43E4-AC38-B28C5F6A2433}"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24</a:t>
            </a:fld>
            <a:endParaRPr lang="en-US"/>
          </a:p>
        </p:txBody>
      </p:sp>
    </p:spTree>
    <p:extLst>
      <p:ext uri="{BB962C8B-B14F-4D97-AF65-F5344CB8AC3E}">
        <p14:creationId xmlns:p14="http://schemas.microsoft.com/office/powerpoint/2010/main" val="3147937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26</a:t>
            </a:fld>
            <a:endParaRPr lang="en-US"/>
          </a:p>
        </p:txBody>
      </p:sp>
    </p:spTree>
    <p:extLst>
      <p:ext uri="{BB962C8B-B14F-4D97-AF65-F5344CB8AC3E}">
        <p14:creationId xmlns:p14="http://schemas.microsoft.com/office/powerpoint/2010/main" val="3646630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27</a:t>
            </a:fld>
            <a:endParaRPr lang="en-US"/>
          </a:p>
        </p:txBody>
      </p:sp>
    </p:spTree>
    <p:extLst>
      <p:ext uri="{BB962C8B-B14F-4D97-AF65-F5344CB8AC3E}">
        <p14:creationId xmlns:p14="http://schemas.microsoft.com/office/powerpoint/2010/main" val="717135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29</a:t>
            </a:fld>
            <a:endParaRPr lang="en-US"/>
          </a:p>
        </p:txBody>
      </p:sp>
    </p:spTree>
    <p:extLst>
      <p:ext uri="{BB962C8B-B14F-4D97-AF65-F5344CB8AC3E}">
        <p14:creationId xmlns:p14="http://schemas.microsoft.com/office/powerpoint/2010/main" val="21497920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38</a:t>
            </a:fld>
            <a:endParaRPr lang="en-US"/>
          </a:p>
        </p:txBody>
      </p:sp>
    </p:spTree>
    <p:extLst>
      <p:ext uri="{BB962C8B-B14F-4D97-AF65-F5344CB8AC3E}">
        <p14:creationId xmlns:p14="http://schemas.microsoft.com/office/powerpoint/2010/main" val="1106370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39</a:t>
            </a:fld>
            <a:endParaRPr lang="en-US"/>
          </a:p>
        </p:txBody>
      </p:sp>
    </p:spTree>
    <p:extLst>
      <p:ext uri="{BB962C8B-B14F-4D97-AF65-F5344CB8AC3E}">
        <p14:creationId xmlns:p14="http://schemas.microsoft.com/office/powerpoint/2010/main" val="4907810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40</a:t>
            </a:fld>
            <a:endParaRPr lang="en-US"/>
          </a:p>
        </p:txBody>
      </p:sp>
    </p:spTree>
    <p:extLst>
      <p:ext uri="{BB962C8B-B14F-4D97-AF65-F5344CB8AC3E}">
        <p14:creationId xmlns:p14="http://schemas.microsoft.com/office/powerpoint/2010/main" val="8323448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41</a:t>
            </a:fld>
            <a:endParaRPr lang="en-US"/>
          </a:p>
        </p:txBody>
      </p:sp>
    </p:spTree>
    <p:extLst>
      <p:ext uri="{BB962C8B-B14F-4D97-AF65-F5344CB8AC3E}">
        <p14:creationId xmlns:p14="http://schemas.microsoft.com/office/powerpoint/2010/main" val="6212681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42</a:t>
            </a:fld>
            <a:endParaRPr lang="en-US"/>
          </a:p>
        </p:txBody>
      </p:sp>
    </p:spTree>
    <p:extLst>
      <p:ext uri="{BB962C8B-B14F-4D97-AF65-F5344CB8AC3E}">
        <p14:creationId xmlns:p14="http://schemas.microsoft.com/office/powerpoint/2010/main" val="2174643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43</a:t>
            </a:fld>
            <a:endParaRPr lang="en-US"/>
          </a:p>
        </p:txBody>
      </p:sp>
    </p:spTree>
    <p:extLst>
      <p:ext uri="{BB962C8B-B14F-4D97-AF65-F5344CB8AC3E}">
        <p14:creationId xmlns:p14="http://schemas.microsoft.com/office/powerpoint/2010/main" val="17539994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44</a:t>
            </a:fld>
            <a:endParaRPr lang="en-US"/>
          </a:p>
        </p:txBody>
      </p:sp>
    </p:spTree>
    <p:extLst>
      <p:ext uri="{BB962C8B-B14F-4D97-AF65-F5344CB8AC3E}">
        <p14:creationId xmlns:p14="http://schemas.microsoft.com/office/powerpoint/2010/main" val="16483550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45</a:t>
            </a:fld>
            <a:endParaRPr lang="en-US"/>
          </a:p>
        </p:txBody>
      </p:sp>
    </p:spTree>
    <p:extLst>
      <p:ext uri="{BB962C8B-B14F-4D97-AF65-F5344CB8AC3E}">
        <p14:creationId xmlns:p14="http://schemas.microsoft.com/office/powerpoint/2010/main" val="25017596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46</a:t>
            </a:fld>
            <a:endParaRPr lang="en-US"/>
          </a:p>
        </p:txBody>
      </p:sp>
    </p:spTree>
    <p:extLst>
      <p:ext uri="{BB962C8B-B14F-4D97-AF65-F5344CB8AC3E}">
        <p14:creationId xmlns:p14="http://schemas.microsoft.com/office/powerpoint/2010/main" val="18825956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47</a:t>
            </a:fld>
            <a:endParaRPr lang="en-US"/>
          </a:p>
        </p:txBody>
      </p:sp>
    </p:spTree>
    <p:extLst>
      <p:ext uri="{BB962C8B-B14F-4D97-AF65-F5344CB8AC3E}">
        <p14:creationId xmlns:p14="http://schemas.microsoft.com/office/powerpoint/2010/main" val="13409167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48</a:t>
            </a:fld>
            <a:endParaRPr lang="en-US"/>
          </a:p>
        </p:txBody>
      </p:sp>
    </p:spTree>
    <p:extLst>
      <p:ext uri="{BB962C8B-B14F-4D97-AF65-F5344CB8AC3E}">
        <p14:creationId xmlns:p14="http://schemas.microsoft.com/office/powerpoint/2010/main" val="39488226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49</a:t>
            </a:fld>
            <a:endParaRPr lang="en-US"/>
          </a:p>
        </p:txBody>
      </p:sp>
    </p:spTree>
    <p:extLst>
      <p:ext uri="{BB962C8B-B14F-4D97-AF65-F5344CB8AC3E}">
        <p14:creationId xmlns:p14="http://schemas.microsoft.com/office/powerpoint/2010/main" val="8988191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50</a:t>
            </a:fld>
            <a:endParaRPr lang="en-US"/>
          </a:p>
        </p:txBody>
      </p:sp>
    </p:spTree>
    <p:extLst>
      <p:ext uri="{BB962C8B-B14F-4D97-AF65-F5344CB8AC3E}">
        <p14:creationId xmlns:p14="http://schemas.microsoft.com/office/powerpoint/2010/main" val="8035984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52</a:t>
            </a:fld>
            <a:endParaRPr lang="en-US"/>
          </a:p>
        </p:txBody>
      </p:sp>
    </p:spTree>
    <p:extLst>
      <p:ext uri="{BB962C8B-B14F-4D97-AF65-F5344CB8AC3E}">
        <p14:creationId xmlns:p14="http://schemas.microsoft.com/office/powerpoint/2010/main" val="42286644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53</a:t>
            </a:fld>
            <a:endParaRPr lang="en-US"/>
          </a:p>
        </p:txBody>
      </p:sp>
    </p:spTree>
    <p:extLst>
      <p:ext uri="{BB962C8B-B14F-4D97-AF65-F5344CB8AC3E}">
        <p14:creationId xmlns:p14="http://schemas.microsoft.com/office/powerpoint/2010/main" val="7831700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54</a:t>
            </a:fld>
            <a:endParaRPr lang="en-US"/>
          </a:p>
        </p:txBody>
      </p:sp>
    </p:spTree>
    <p:extLst>
      <p:ext uri="{BB962C8B-B14F-4D97-AF65-F5344CB8AC3E}">
        <p14:creationId xmlns:p14="http://schemas.microsoft.com/office/powerpoint/2010/main" val="2771035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55</a:t>
            </a:fld>
            <a:endParaRPr lang="en-US"/>
          </a:p>
        </p:txBody>
      </p:sp>
    </p:spTree>
    <p:extLst>
      <p:ext uri="{BB962C8B-B14F-4D97-AF65-F5344CB8AC3E}">
        <p14:creationId xmlns:p14="http://schemas.microsoft.com/office/powerpoint/2010/main" val="39377752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56</a:t>
            </a:fld>
            <a:endParaRPr lang="en-US"/>
          </a:p>
        </p:txBody>
      </p:sp>
    </p:spTree>
    <p:extLst>
      <p:ext uri="{BB962C8B-B14F-4D97-AF65-F5344CB8AC3E}">
        <p14:creationId xmlns:p14="http://schemas.microsoft.com/office/powerpoint/2010/main" val="6651192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58</a:t>
            </a:fld>
            <a:endParaRPr lang="en-US"/>
          </a:p>
        </p:txBody>
      </p:sp>
    </p:spTree>
    <p:extLst>
      <p:ext uri="{BB962C8B-B14F-4D97-AF65-F5344CB8AC3E}">
        <p14:creationId xmlns:p14="http://schemas.microsoft.com/office/powerpoint/2010/main" val="21772425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P1-P1-S-20-01</a:t>
            </a:r>
          </a:p>
        </p:txBody>
      </p:sp>
      <p:sp>
        <p:nvSpPr>
          <p:cNvPr id="5" name="Date Placeholder 4"/>
          <p:cNvSpPr>
            <a:spLocks noGrp="1"/>
          </p:cNvSpPr>
          <p:nvPr>
            <p:ph type="dt" idx="11"/>
          </p:nvPr>
        </p:nvSpPr>
        <p:spPr/>
        <p:txBody>
          <a:bodyPr/>
          <a:lstStyle/>
          <a:p>
            <a:fld id="{09A9DB4D-DA56-4B2F-B2F4-9EBBA2A76FFA}" type="datetime1">
              <a:rPr lang="en-US" smtClean="0"/>
              <a:t>5/15/2025</a:t>
            </a:fld>
            <a:endParaRPr lang="en-US"/>
          </a:p>
        </p:txBody>
      </p:sp>
      <p:sp>
        <p:nvSpPr>
          <p:cNvPr id="6" name="Footer Placeholder 5"/>
          <p:cNvSpPr>
            <a:spLocks noGrp="1"/>
          </p:cNvSpPr>
          <p:nvPr>
            <p:ph type="ftr" sz="quarter" idx="12"/>
          </p:nvPr>
        </p:nvSpPr>
        <p:spPr/>
        <p:txBody>
          <a:bodyPr/>
          <a:lstStyle/>
          <a:p>
            <a:r>
              <a:rPr lang="en-US"/>
              <a:t>Project Title</a:t>
            </a:r>
          </a:p>
        </p:txBody>
      </p:sp>
      <p:sp>
        <p:nvSpPr>
          <p:cNvPr id="7" name="Slide Number Placeholder 6"/>
          <p:cNvSpPr>
            <a:spLocks noGrp="1"/>
          </p:cNvSpPr>
          <p:nvPr>
            <p:ph type="sldNum" sz="quarter" idx="13"/>
          </p:nvPr>
        </p:nvSpPr>
        <p:spPr/>
        <p:txBody>
          <a:bodyPr/>
          <a:lstStyle/>
          <a:p>
            <a:fld id="{786FEFBD-D254-4142-B3DF-3182BB9EBA19}" type="slidenum">
              <a:rPr lang="en-US" smtClean="0"/>
              <a:t>59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7DF904-A76C-4547-AD6B-2EC0D34E110C}" type="datetime1">
              <a:rPr lang="en-US" smtClean="0"/>
              <a:t>5/15/2025</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30D4D4-4AB5-4530-88B4-CEEB0D6B6974}" type="datetime1">
              <a:rPr lang="en-US" smtClean="0"/>
              <a:t>5/15/2025</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9C4556-2C53-400A-B52E-CFE8A5B7D4C2}" type="datetime1">
              <a:rPr lang="en-US" smtClean="0"/>
              <a:t>5/15/2025</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CBBA09-33CF-402E-BB8A-941BE1CEAAFB}" type="datetime1">
              <a:rPr lang="en-US" smtClean="0"/>
              <a:t>5/15/2025</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431203-6E24-49C4-A73D-322126FB9AA3}" type="datetime1">
              <a:rPr lang="en-US" smtClean="0"/>
              <a:t>5/15/2025</a:t>
            </a:fld>
            <a:endParaRPr lang="en-US"/>
          </a:p>
        </p:txBody>
      </p:sp>
      <p:sp>
        <p:nvSpPr>
          <p:cNvPr id="8" name="Footer Placeholder 7"/>
          <p:cNvSpPr>
            <a:spLocks noGrp="1"/>
          </p:cNvSpPr>
          <p:nvPr>
            <p:ph type="ftr" sz="quarter" idx="11"/>
          </p:nvPr>
        </p:nvSpPr>
        <p:spPr/>
        <p:txBody>
          <a:bodyPr/>
          <a:lstStyle/>
          <a:p>
            <a:r>
              <a:rPr lang="en-US"/>
              <a:t>Your Project Code(P1-P1-S-20-01) Project Title</a:t>
            </a:r>
          </a:p>
        </p:txBody>
      </p:sp>
      <p:sp>
        <p:nvSpPr>
          <p:cNvPr id="9" name="Slide Number Placeholder 8"/>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697CB8-69DB-415F-B70B-584E1D4B5382}" type="datetime1">
              <a:rPr lang="en-US" smtClean="0"/>
              <a:t>5/15/2025</a:t>
            </a:fld>
            <a:endParaRPr lang="en-US"/>
          </a:p>
        </p:txBody>
      </p:sp>
      <p:sp>
        <p:nvSpPr>
          <p:cNvPr id="4" name="Footer Placeholder 3"/>
          <p:cNvSpPr>
            <a:spLocks noGrp="1"/>
          </p:cNvSpPr>
          <p:nvPr>
            <p:ph type="ftr" sz="quarter" idx="11"/>
          </p:nvPr>
        </p:nvSpPr>
        <p:spPr/>
        <p:txBody>
          <a:bodyPr/>
          <a:lstStyle/>
          <a:p>
            <a:r>
              <a:rPr lang="en-US"/>
              <a:t>Your Project Code(P1-P1-S-20-01) Project Title</a:t>
            </a:r>
          </a:p>
        </p:txBody>
      </p:sp>
      <p:sp>
        <p:nvSpPr>
          <p:cNvPr id="5" name="Slide Number Placeholder 4"/>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CC84DA-0940-4731-8877-87A550E45FEE}" type="datetime1">
              <a:rPr lang="en-US" smtClean="0"/>
              <a:t>5/15/2025</a:t>
            </a:fld>
            <a:endParaRPr lang="en-US"/>
          </a:p>
        </p:txBody>
      </p:sp>
      <p:sp>
        <p:nvSpPr>
          <p:cNvPr id="3" name="Footer Placeholder 2"/>
          <p:cNvSpPr>
            <a:spLocks noGrp="1"/>
          </p:cNvSpPr>
          <p:nvPr>
            <p:ph type="ftr" sz="quarter" idx="11"/>
          </p:nvPr>
        </p:nvSpPr>
        <p:spPr/>
        <p:txBody>
          <a:bodyPr/>
          <a:lstStyle/>
          <a:p>
            <a:r>
              <a:rPr lang="en-US"/>
              <a:t>Your Project Code(P1-P1-S-20-01) Project Title</a:t>
            </a:r>
          </a:p>
        </p:txBody>
      </p:sp>
      <p:sp>
        <p:nvSpPr>
          <p:cNvPr id="4" name="Slide Number Placeholder 3"/>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316400-5575-480E-B7EF-9E88528ECCC8}" type="datetime1">
              <a:rPr lang="en-US" smtClean="0"/>
              <a:t>5/15/2025</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264A7A-48D0-4476-83B1-1F1233CA3DDC}" type="datetime1">
              <a:rPr lang="en-US" smtClean="0"/>
              <a:t>5/15/2025</a:t>
            </a:fld>
            <a:endParaRPr lang="en-US"/>
          </a:p>
        </p:txBody>
      </p:sp>
      <p:sp>
        <p:nvSpPr>
          <p:cNvPr id="6" name="Footer Placeholder 5"/>
          <p:cNvSpPr>
            <a:spLocks noGrp="1"/>
          </p:cNvSpPr>
          <p:nvPr>
            <p:ph type="ftr" sz="quarter" idx="11"/>
          </p:nvPr>
        </p:nvSpPr>
        <p:spPr/>
        <p:txBody>
          <a:bodyPr/>
          <a:lstStyle/>
          <a:p>
            <a:r>
              <a:rPr lang="en-US"/>
              <a:t>Your Project Code(P1-P1-S-20-01) Project Title</a:t>
            </a:r>
          </a:p>
        </p:txBody>
      </p:sp>
      <p:sp>
        <p:nvSpPr>
          <p:cNvPr id="7" name="Slide Number Placeholder 6"/>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17D0B3-335B-4B8A-8743-E10436674414}" type="datetime1">
              <a:rPr lang="en-US" smtClean="0"/>
              <a:t>5/15/2025</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C584F2-939B-4AA9-B34B-CEA038FA78A9}" type="datetime1">
              <a:rPr lang="en-US" smtClean="0"/>
              <a:t>5/15/2025</a:t>
            </a:fld>
            <a:endParaRPr lang="en-US"/>
          </a:p>
        </p:txBody>
      </p:sp>
      <p:sp>
        <p:nvSpPr>
          <p:cNvPr id="5" name="Footer Placeholder 4"/>
          <p:cNvSpPr>
            <a:spLocks noGrp="1"/>
          </p:cNvSpPr>
          <p:nvPr>
            <p:ph type="ftr" sz="quarter" idx="11"/>
          </p:nvPr>
        </p:nvSpPr>
        <p:spPr/>
        <p:txBody>
          <a:bodyPr/>
          <a:lstStyle/>
          <a:p>
            <a:r>
              <a:rPr lang="en-US"/>
              <a:t>Your Project Code(P1-P1-S-20-01) Project Title</a:t>
            </a:r>
          </a:p>
        </p:txBody>
      </p:sp>
      <p:sp>
        <p:nvSpPr>
          <p:cNvPr id="6" name="Slide Number Placeholder 5"/>
          <p:cNvSpPr>
            <a:spLocks noGrp="1"/>
          </p:cNvSpPr>
          <p:nvPr>
            <p:ph type="sldNum" sz="quarter" idx="12"/>
          </p:nvPr>
        </p:nvSpPr>
        <p:spPr/>
        <p:txBody>
          <a:bodyPr/>
          <a:lstStyle/>
          <a:p>
            <a:fld id="{FCB64944-C185-42A3-B9E2-0C66306C082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026B10-3FB8-4C7E-957B-87D304575392}" type="datetime1">
              <a:rPr lang="en-US" smtClean="0"/>
              <a:t>5/15/2025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Project Code(P1-P1-S-20-01) Project Title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B64944-C185-42A3-B9E2-0C66306C082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elisemercury/Duplicate-Image-Finder"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g"/><Relationship Id="rId4" Type="http://schemas.openxmlformats.org/officeDocument/2006/relationships/image" Target="../media/image33.jp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13399"/>
            <a:ext cx="9144000" cy="1871849"/>
          </a:xfrm>
        </p:spPr>
        <p:txBody>
          <a:bodyPr/>
          <a:lstStyle/>
          <a:p>
            <a:r>
              <a:rPr lang="en-US" b="1" u="sng" smtClean="0">
                <a:solidFill>
                  <a:schemeClr val="accent1"/>
                </a:solidFill>
              </a:rPr>
              <a:t>FYP-2 </a:t>
            </a:r>
            <a:r>
              <a:rPr lang="en-US" b="1" u="sng" dirty="0" smtClean="0">
                <a:solidFill>
                  <a:schemeClr val="accent1"/>
                </a:solidFill>
              </a:rPr>
              <a:t>Final Evaluation </a:t>
            </a:r>
            <a:r>
              <a:rPr lang="en-US" b="1" u="sng" dirty="0"/>
              <a:t/>
            </a:r>
            <a:br>
              <a:rPr lang="en-US" b="1" u="sng" dirty="0"/>
            </a:br>
            <a:endParaRPr lang="en-US" u="sng" dirty="0"/>
          </a:p>
        </p:txBody>
      </p:sp>
      <p:pic>
        <p:nvPicPr>
          <p:cNvPr id="5" name="Content Placeholder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9037" y="348033"/>
            <a:ext cx="1385664" cy="1385664"/>
          </a:xfrm>
          <a:prstGeom prst="rect">
            <a:avLst/>
          </a:prstGeom>
        </p:spPr>
      </p:pic>
      <p:sp>
        <p:nvSpPr>
          <p:cNvPr id="31" name="Shape 5"/>
          <p:cNvSpPr/>
          <p:nvPr/>
        </p:nvSpPr>
        <p:spPr>
          <a:xfrm>
            <a:off x="4236097" y="2985248"/>
            <a:ext cx="7378604" cy="706517"/>
          </a:xfrm>
          <a:prstGeom prst="rect">
            <a:avLst/>
          </a:prstGeom>
          <a:solidFill>
            <a:srgbClr val="FFFFFF">
              <a:alpha val="4000"/>
            </a:srgbClr>
          </a:solidFill>
        </p:spPr>
      </p:sp>
      <p:sp>
        <p:nvSpPr>
          <p:cNvPr id="32" name="Text 6"/>
          <p:cNvSpPr/>
          <p:nvPr/>
        </p:nvSpPr>
        <p:spPr>
          <a:xfrm>
            <a:off x="1524000" y="3140982"/>
            <a:ext cx="3404150" cy="395049"/>
          </a:xfrm>
          <a:prstGeom prst="rect">
            <a:avLst/>
          </a:prstGeom>
          <a:noFill/>
        </p:spPr>
        <p:txBody>
          <a:bodyPr wrap="none" rtlCol="0" anchor="t"/>
          <a:lstStyle/>
          <a:p>
            <a:pPr marL="0" indent="0">
              <a:lnSpc>
                <a:spcPts val="3110"/>
              </a:lnSpc>
              <a:buNone/>
            </a:pPr>
            <a:r>
              <a:rPr lang="en-US" sz="1945" dirty="0">
                <a:latin typeface="+mn-ea"/>
                <a:cs typeface="+mn-ea"/>
              </a:rPr>
              <a:t>Wajee ul Hassan</a:t>
            </a:r>
          </a:p>
        </p:txBody>
      </p:sp>
      <p:sp>
        <p:nvSpPr>
          <p:cNvPr id="33" name="Text 7"/>
          <p:cNvSpPr/>
          <p:nvPr/>
        </p:nvSpPr>
        <p:spPr>
          <a:xfrm>
            <a:off x="7963734" y="3140982"/>
            <a:ext cx="3404150" cy="395049"/>
          </a:xfrm>
          <a:prstGeom prst="rect">
            <a:avLst/>
          </a:prstGeom>
          <a:noFill/>
        </p:spPr>
        <p:txBody>
          <a:bodyPr wrap="none" rtlCol="0" anchor="t"/>
          <a:lstStyle/>
          <a:p>
            <a:pPr marL="0" indent="0">
              <a:lnSpc>
                <a:spcPts val="3110"/>
              </a:lnSpc>
              <a:buNone/>
            </a:pPr>
            <a:r>
              <a:rPr lang="en-US" sz="1945" dirty="0">
                <a:solidFill>
                  <a:schemeClr val="tx1"/>
                </a:solidFill>
                <a:latin typeface="+mn-ea"/>
                <a:ea typeface="Source Serif Pro" pitchFamily="34" charset="-122"/>
                <a:cs typeface="+mn-ea"/>
              </a:rPr>
              <a:t>21F-9143</a:t>
            </a:r>
          </a:p>
        </p:txBody>
      </p:sp>
      <p:sp>
        <p:nvSpPr>
          <p:cNvPr id="35" name="Text 9"/>
          <p:cNvSpPr/>
          <p:nvPr/>
        </p:nvSpPr>
        <p:spPr>
          <a:xfrm>
            <a:off x="1524000" y="3847499"/>
            <a:ext cx="3404150" cy="395049"/>
          </a:xfrm>
          <a:prstGeom prst="rect">
            <a:avLst/>
          </a:prstGeom>
          <a:noFill/>
        </p:spPr>
        <p:txBody>
          <a:bodyPr wrap="none" rtlCol="0" anchor="t"/>
          <a:lstStyle/>
          <a:p>
            <a:pPr marL="0" indent="0">
              <a:lnSpc>
                <a:spcPts val="3110"/>
              </a:lnSpc>
              <a:buNone/>
            </a:pPr>
            <a:r>
              <a:rPr lang="en-US" sz="1945" dirty="0">
                <a:solidFill>
                  <a:schemeClr val="tx1"/>
                </a:solidFill>
                <a:latin typeface="+mn-ea"/>
                <a:ea typeface="Source Serif Pro" pitchFamily="34" charset="-122"/>
                <a:cs typeface="+mn-ea"/>
              </a:rPr>
              <a:t>Om Parkash</a:t>
            </a:r>
          </a:p>
        </p:txBody>
      </p:sp>
      <p:sp>
        <p:nvSpPr>
          <p:cNvPr id="36" name="Text 10"/>
          <p:cNvSpPr/>
          <p:nvPr/>
        </p:nvSpPr>
        <p:spPr>
          <a:xfrm>
            <a:off x="7963734" y="3847499"/>
            <a:ext cx="3404150" cy="395049"/>
          </a:xfrm>
          <a:prstGeom prst="rect">
            <a:avLst/>
          </a:prstGeom>
          <a:noFill/>
        </p:spPr>
        <p:txBody>
          <a:bodyPr wrap="none" rtlCol="0" anchor="t"/>
          <a:lstStyle/>
          <a:p>
            <a:pPr marL="0" indent="0">
              <a:lnSpc>
                <a:spcPts val="3110"/>
              </a:lnSpc>
              <a:buNone/>
            </a:pPr>
            <a:r>
              <a:rPr lang="en-US" sz="1945" dirty="0">
                <a:solidFill>
                  <a:schemeClr val="tx1"/>
                </a:solidFill>
                <a:latin typeface="+mn-ea"/>
                <a:ea typeface="Source Serif Pro" pitchFamily="34" charset="-122"/>
                <a:cs typeface="+mn-ea"/>
              </a:rPr>
              <a:t>21F-9272</a:t>
            </a:r>
          </a:p>
        </p:txBody>
      </p:sp>
      <p:sp>
        <p:nvSpPr>
          <p:cNvPr id="37" name="Shape 11"/>
          <p:cNvSpPr/>
          <p:nvPr/>
        </p:nvSpPr>
        <p:spPr>
          <a:xfrm>
            <a:off x="4236097" y="4398282"/>
            <a:ext cx="7378604" cy="706517"/>
          </a:xfrm>
          <a:prstGeom prst="rect">
            <a:avLst/>
          </a:prstGeom>
          <a:solidFill>
            <a:srgbClr val="FFFFFF">
              <a:alpha val="4000"/>
            </a:srgbClr>
          </a:solidFill>
        </p:spPr>
      </p:sp>
      <p:sp>
        <p:nvSpPr>
          <p:cNvPr id="38" name="Text 12"/>
          <p:cNvSpPr/>
          <p:nvPr/>
        </p:nvSpPr>
        <p:spPr>
          <a:xfrm>
            <a:off x="1524000" y="4554015"/>
            <a:ext cx="3404150" cy="395049"/>
          </a:xfrm>
          <a:prstGeom prst="rect">
            <a:avLst/>
          </a:prstGeom>
          <a:noFill/>
        </p:spPr>
        <p:txBody>
          <a:bodyPr wrap="none" rtlCol="0" anchor="t"/>
          <a:lstStyle/>
          <a:p>
            <a:pPr marL="0" indent="0">
              <a:lnSpc>
                <a:spcPts val="3110"/>
              </a:lnSpc>
              <a:buNone/>
            </a:pPr>
            <a:r>
              <a:rPr lang="en-US" sz="1945" dirty="0">
                <a:solidFill>
                  <a:schemeClr val="tx1"/>
                </a:solidFill>
                <a:latin typeface="+mn-ea"/>
                <a:ea typeface="Source Serif Pro" pitchFamily="34" charset="-122"/>
                <a:cs typeface="+mn-ea"/>
              </a:rPr>
              <a:t>Afaq Ahmed</a:t>
            </a:r>
          </a:p>
        </p:txBody>
      </p:sp>
      <p:sp>
        <p:nvSpPr>
          <p:cNvPr id="39" name="Text 13"/>
          <p:cNvSpPr/>
          <p:nvPr/>
        </p:nvSpPr>
        <p:spPr>
          <a:xfrm>
            <a:off x="7963734" y="4554015"/>
            <a:ext cx="3404150" cy="395049"/>
          </a:xfrm>
          <a:prstGeom prst="rect">
            <a:avLst/>
          </a:prstGeom>
          <a:noFill/>
        </p:spPr>
        <p:txBody>
          <a:bodyPr wrap="none" rtlCol="0" anchor="t"/>
          <a:lstStyle/>
          <a:p>
            <a:pPr marL="0" indent="0">
              <a:lnSpc>
                <a:spcPts val="3110"/>
              </a:lnSpc>
              <a:buNone/>
            </a:pPr>
            <a:r>
              <a:rPr lang="en-US" sz="1945" dirty="0">
                <a:solidFill>
                  <a:schemeClr val="tx1"/>
                </a:solidFill>
                <a:latin typeface="+mn-ea"/>
                <a:ea typeface="Source Serif Pro" pitchFamily="34" charset="-122"/>
                <a:cs typeface="+mn-ea"/>
              </a:rPr>
              <a:t>21F-9298</a:t>
            </a:r>
          </a:p>
        </p:txBody>
      </p:sp>
      <p:sp>
        <p:nvSpPr>
          <p:cNvPr id="4" name="Rectangle 3"/>
          <p:cNvSpPr/>
          <p:nvPr/>
        </p:nvSpPr>
        <p:spPr>
          <a:xfrm>
            <a:off x="2862606" y="2303080"/>
            <a:ext cx="6096000" cy="1077218"/>
          </a:xfrm>
          <a:prstGeom prst="rect">
            <a:avLst/>
          </a:prstGeom>
        </p:spPr>
        <p:txBody>
          <a:bodyPr>
            <a:spAutoFit/>
          </a:bodyPr>
          <a:lstStyle/>
          <a:p>
            <a:pPr algn="ctr"/>
            <a:r>
              <a:rPr lang="en-US" sz="3200" b="1" u="sng" dirty="0">
                <a:solidFill>
                  <a:schemeClr val="accent1"/>
                </a:solidFill>
                <a:latin typeface="Times New Roman" panose="02020603050405020304" pitchFamily="18" charset="0"/>
                <a:cs typeface="Times New Roman" panose="02020603050405020304" pitchFamily="18" charset="0"/>
              </a:rPr>
              <a:t>Team</a:t>
            </a:r>
            <a:r>
              <a:rPr lang="en-US" sz="3200" b="1" dirty="0">
                <a:solidFill>
                  <a:schemeClr val="accent1"/>
                </a:solidFill>
                <a:latin typeface="Times New Roman" panose="02020603050405020304" pitchFamily="18" charset="0"/>
                <a:cs typeface="Times New Roman" panose="02020603050405020304" pitchFamily="18" charset="0"/>
              </a:rPr>
              <a:t> </a:t>
            </a:r>
          </a:p>
          <a:p>
            <a:endParaRPr lang="en-US" sz="3200" dirty="0">
              <a:latin typeface="Times New Roman" panose="02020603050405020304" pitchFamily="18" charset="0"/>
              <a:cs typeface="Times New Roman" panose="02020603050405020304" pitchFamily="18" charset="0"/>
            </a:endParaRPr>
          </a:p>
        </p:txBody>
      </p:sp>
      <p:sp>
        <p:nvSpPr>
          <p:cNvPr id="15" name="Slide Number Placeholder 4"/>
          <p:cNvSpPr>
            <a:spLocks noGrp="1"/>
          </p:cNvSpPr>
          <p:nvPr>
            <p:ph type="sldNum" sz="quarter" idx="12"/>
          </p:nvPr>
        </p:nvSpPr>
        <p:spPr>
          <a:xfrm>
            <a:off x="8610600" y="6356350"/>
            <a:ext cx="2743200" cy="365125"/>
          </a:xfrm>
        </p:spPr>
        <p:txBody>
          <a:bodyPr/>
          <a:lstStyle/>
          <a:p>
            <a:fld id="{FCB64944-C185-42A3-B9E2-0C66306C0823}" type="slidenum">
              <a:rPr lang="en-US" smtClean="0"/>
              <a:t>1</a:t>
            </a:fld>
            <a:endParaRPr lang="en-US" dirty="0"/>
          </a:p>
        </p:txBody>
      </p:sp>
      <p:sp>
        <p:nvSpPr>
          <p:cNvPr id="16" name="Rounded Rectangle 15"/>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CB64944-C185-42A3-B9E2-0C66306C0823}" type="slidenum">
              <a:rPr lang="en-US" smtClean="0"/>
              <a:t>2</a:t>
            </a:fld>
            <a:endParaRPr lang="en-US" dirty="0"/>
          </a:p>
        </p:txBody>
      </p:sp>
      <p:pic>
        <p:nvPicPr>
          <p:cNvPr id="5"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2103" y="302608"/>
            <a:ext cx="1385887" cy="1385887"/>
          </a:xfrm>
          <a:prstGeom prst="rect">
            <a:avLst/>
          </a:prstGeom>
        </p:spPr>
      </p:pic>
      <p:sp>
        <p:nvSpPr>
          <p:cNvPr id="10" name="Content Placeholder 8"/>
          <p:cNvSpPr>
            <a:spLocks noGrp="1"/>
          </p:cNvSpPr>
          <p:nvPr>
            <p:ph sz="half" idx="1"/>
          </p:nvPr>
        </p:nvSpPr>
        <p:spPr>
          <a:xfrm>
            <a:off x="838200" y="576263"/>
            <a:ext cx="10147300" cy="5600700"/>
          </a:xfrm>
        </p:spPr>
        <p:txBody>
          <a:bodyPr>
            <a:normAutofit/>
          </a:bodyPr>
          <a:lstStyle/>
          <a:p>
            <a:pPr marL="0" indent="0" algn="ctr">
              <a:buNone/>
            </a:pPr>
            <a:endParaRPr lang="en-US" sz="3200" b="1" dirty="0"/>
          </a:p>
          <a:p>
            <a:pPr marL="0" indent="0" algn="ctr">
              <a:buNone/>
            </a:pPr>
            <a:r>
              <a:rPr lang="en-US" sz="3200" b="1" u="sng" dirty="0" smtClean="0">
                <a:solidFill>
                  <a:schemeClr val="accent1"/>
                </a:solidFill>
              </a:rPr>
              <a:t>Team Name:</a:t>
            </a:r>
          </a:p>
          <a:p>
            <a:pPr marL="0" indent="0" algn="ctr">
              <a:buNone/>
            </a:pPr>
            <a:r>
              <a:rPr lang="en-US" sz="3200" dirty="0" smtClean="0"/>
              <a:t>Code Geass</a:t>
            </a:r>
          </a:p>
          <a:p>
            <a:pPr marL="0" indent="0" algn="ctr">
              <a:buNone/>
            </a:pPr>
            <a:r>
              <a:rPr lang="en-US" sz="3200" b="1" u="sng" dirty="0" smtClean="0">
                <a:solidFill>
                  <a:schemeClr val="accent1"/>
                </a:solidFill>
              </a:rPr>
              <a:t>Supervisor(s</a:t>
            </a:r>
            <a:r>
              <a:rPr lang="en-US" sz="3200" b="1" u="sng" dirty="0">
                <a:solidFill>
                  <a:schemeClr val="accent1"/>
                </a:solidFill>
              </a:rPr>
              <a:t>):</a:t>
            </a:r>
          </a:p>
          <a:p>
            <a:pPr marL="0" indent="0" algn="ctr">
              <a:buNone/>
            </a:pPr>
            <a:r>
              <a:rPr lang="en-US" sz="3200" dirty="0" smtClean="0"/>
              <a:t>Dr. Rabia Maqsood</a:t>
            </a:r>
            <a:endParaRPr lang="en-US" sz="3200" dirty="0"/>
          </a:p>
          <a:p>
            <a:pPr marL="0" indent="0" algn="ctr">
              <a:buNone/>
            </a:pPr>
            <a:r>
              <a:rPr lang="en-US" sz="3200" b="1" u="sng" dirty="0" smtClean="0">
                <a:solidFill>
                  <a:schemeClr val="accent1"/>
                </a:solidFill>
              </a:rPr>
              <a:t>External-Supervisor(s</a:t>
            </a:r>
            <a:r>
              <a:rPr lang="en-US" sz="3200" b="1" u="sng" dirty="0">
                <a:solidFill>
                  <a:schemeClr val="accent1"/>
                </a:solidFill>
              </a:rPr>
              <a:t>):</a:t>
            </a:r>
          </a:p>
          <a:p>
            <a:pPr marL="0" indent="0" algn="ctr">
              <a:buNone/>
            </a:pPr>
            <a:r>
              <a:rPr lang="en-US" sz="3200" dirty="0" smtClean="0"/>
              <a:t>Dr. Shah Nawaz</a:t>
            </a:r>
            <a:endParaRPr lang="en-US" sz="3200" dirty="0"/>
          </a:p>
          <a:p>
            <a:pPr marL="0" indent="0" algn="ctr">
              <a:buNone/>
            </a:pPr>
            <a:r>
              <a:rPr lang="en-US" sz="3200" b="1" u="sng" dirty="0">
                <a:solidFill>
                  <a:schemeClr val="accent1"/>
                </a:solidFill>
              </a:rPr>
              <a:t>Project Name/Title:</a:t>
            </a:r>
          </a:p>
          <a:p>
            <a:pPr marL="0" indent="0" algn="ctr">
              <a:buNone/>
            </a:pPr>
            <a:r>
              <a:rPr lang="en-US" sz="3200" dirty="0" smtClean="0"/>
              <a:t>Hateful Meme Detection in Multimodal Setting</a:t>
            </a:r>
            <a:endParaRPr lang="en-US" sz="3200" dirty="0"/>
          </a:p>
        </p:txBody>
      </p:sp>
      <p:sp>
        <p:nvSpPr>
          <p:cNvPr id="6" name="Rounded Rectangle 5"/>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down)">
                                      <p:cBhvr>
                                        <p:cTn id="12" dur="500"/>
                                        <p:tgtEl>
                                          <p:spTgt spid="10">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wipe(down)">
                                      <p:cBhvr>
                                        <p:cTn id="15" dur="500"/>
                                        <p:tgtEl>
                                          <p:spTgt spid="10">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wipe(down)">
                                      <p:cBhvr>
                                        <p:cTn id="18" dur="500"/>
                                        <p:tgtEl>
                                          <p:spTgt spid="10">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animEffect transition="in" filter="wipe(down)">
                                      <p:cBhvr>
                                        <p:cTn id="21" dur="500"/>
                                        <p:tgtEl>
                                          <p:spTgt spid="10">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xEl>
                                              <p:pRg st="6" end="6"/>
                                            </p:txEl>
                                          </p:spTgt>
                                        </p:tgtEl>
                                        <p:attrNameLst>
                                          <p:attrName>style.visibility</p:attrName>
                                        </p:attrNameLst>
                                      </p:cBhvr>
                                      <p:to>
                                        <p:strVal val="visible"/>
                                      </p:to>
                                    </p:set>
                                    <p:animEffect transition="in" filter="wipe(down)">
                                      <p:cBhvr>
                                        <p:cTn id="24" dur="500"/>
                                        <p:tgtEl>
                                          <p:spTgt spid="10">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animEffect transition="in" filter="wipe(down)">
                                      <p:cBhvr>
                                        <p:cTn id="27" dur="500"/>
                                        <p:tgtEl>
                                          <p:spTgt spid="10">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10">
                                            <p:txEl>
                                              <p:pRg st="8" end="8"/>
                                            </p:txEl>
                                          </p:spTgt>
                                        </p:tgtEl>
                                        <p:attrNameLst>
                                          <p:attrName>style.visibility</p:attrName>
                                        </p:attrNameLst>
                                      </p:cBhvr>
                                      <p:to>
                                        <p:strVal val="visible"/>
                                      </p:to>
                                    </p:set>
                                    <p:animEffect transition="in" filter="wipe(down)">
                                      <p:cBhvr>
                                        <p:cTn id="30"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u="sng" dirty="0">
                <a:solidFill>
                  <a:schemeClr val="accent1"/>
                </a:solidFill>
              </a:rPr>
              <a:t>LOGO</a:t>
            </a:r>
          </a:p>
        </p:txBody>
      </p:sp>
      <p:sp>
        <p:nvSpPr>
          <p:cNvPr id="5" name="Slide Number Placeholder 4"/>
          <p:cNvSpPr>
            <a:spLocks noGrp="1"/>
          </p:cNvSpPr>
          <p:nvPr>
            <p:ph type="sldNum" sz="quarter" idx="12"/>
          </p:nvPr>
        </p:nvSpPr>
        <p:spPr/>
        <p:txBody>
          <a:bodyPr/>
          <a:lstStyle/>
          <a:p>
            <a:fld id="{FCB64944-C185-42A3-B9E2-0C66306C0823}" type="slidenum">
              <a:rPr lang="en-US" smtClean="0"/>
              <a:t>3</a:t>
            </a:fld>
            <a:endParaRPr lang="en-US"/>
          </a:p>
        </p:txBody>
      </p:sp>
      <p:pic>
        <p:nvPicPr>
          <p:cNvPr id="10" name="Content Placeholder 9"/>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10042940" y="317990"/>
            <a:ext cx="1385887" cy="1385887"/>
          </a:xfrm>
        </p:spPr>
      </p:pic>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7132" y="1906587"/>
            <a:ext cx="4714875" cy="37623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0" i="0" u="none" strike="noStrike" baseline="0" dirty="0">
                <a:solidFill>
                  <a:srgbClr val="000000"/>
                </a:solidFill>
                <a:latin typeface="Times New Roman" panose="02020603050405020304" pitchFamily="18" charset="0"/>
              </a:rPr>
              <a:t> </a:t>
            </a:r>
            <a:r>
              <a:rPr lang="en-US" b="1" u="sng" dirty="0">
                <a:solidFill>
                  <a:schemeClr val="accent1"/>
                </a:solidFill>
                <a:latin typeface="Times New Roman" panose="02020603050405020304" pitchFamily="18" charset="0"/>
              </a:rPr>
              <a:t>Outline</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126609" y="1367115"/>
            <a:ext cx="10667994" cy="5354320"/>
          </a:xfrm>
          <a:prstGeom prst="rect">
            <a:avLst/>
          </a:prstGeom>
        </p:spPr>
        <p:txBody>
          <a:bodyPr wrap="square">
            <a:spAutoFit/>
          </a:bodyPr>
          <a:lstStyle/>
          <a:p>
            <a:pPr lvl="1"/>
            <a:r>
              <a:rPr lang="en-US" b="0" i="0" u="none" strike="noStrike" baseline="0" dirty="0">
                <a:solidFill>
                  <a:srgbClr val="000000"/>
                </a:solidFill>
                <a:latin typeface="Times New Roman" panose="02020603050405020304" pitchFamily="18" charset="0"/>
              </a:rPr>
              <a:t>	</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Introduction</a:t>
            </a: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Policies</a:t>
            </a:r>
            <a:endParaRPr lang="en-US" sz="1200" b="0" i="0" u="none" strike="noStrike" baseline="0" dirty="0">
              <a:solidFill>
                <a:srgbClr val="000000"/>
              </a:solidFill>
              <a:latin typeface="Times New Roman" panose="02020603050405020304" pitchFamily="18" charset="0"/>
            </a:endParaRP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Use Case </a:t>
            </a:r>
            <a:r>
              <a:rPr lang="en-US" b="0" i="0" u="none" strike="noStrike" baseline="0" dirty="0" smtClean="0">
                <a:solidFill>
                  <a:srgbClr val="000000"/>
                </a:solidFill>
                <a:latin typeface="Times New Roman" panose="02020603050405020304" pitchFamily="18" charset="0"/>
              </a:rPr>
              <a:t>Diagram</a:t>
            </a:r>
          </a:p>
          <a:p>
            <a:pPr marL="742950" lvl="1" indent="-285750">
              <a:buFont typeface="Arial" panose="020B0604020202020204" pitchFamily="34" charset="0"/>
              <a:buChar char="•"/>
            </a:pPr>
            <a:r>
              <a:rPr lang="en-US" dirty="0" smtClean="0">
                <a:solidFill>
                  <a:srgbClr val="000000"/>
                </a:solidFill>
                <a:latin typeface="Times New Roman" panose="02020603050405020304" pitchFamily="18" charset="0"/>
              </a:rPr>
              <a:t>Domain Model</a:t>
            </a:r>
          </a:p>
          <a:p>
            <a:pPr marL="742950" lvl="1" indent="-285750">
              <a:buFont typeface="Arial" panose="020B0604020202020204" pitchFamily="34" charset="0"/>
              <a:buChar char="•"/>
            </a:pPr>
            <a:r>
              <a:rPr lang="en-US" b="0" i="0" u="none" strike="noStrike" baseline="0" dirty="0" smtClean="0">
                <a:solidFill>
                  <a:srgbClr val="000000"/>
                </a:solidFill>
                <a:latin typeface="Times New Roman" panose="02020603050405020304" pitchFamily="18" charset="0"/>
              </a:rPr>
              <a:t>Component</a:t>
            </a:r>
            <a:r>
              <a:rPr lang="en-US" b="0" i="0" u="none" strike="noStrike" dirty="0" smtClean="0">
                <a:solidFill>
                  <a:srgbClr val="000000"/>
                </a:solidFill>
                <a:latin typeface="Times New Roman" panose="02020603050405020304" pitchFamily="18" charset="0"/>
              </a:rPr>
              <a:t> Diagram</a:t>
            </a:r>
          </a:p>
          <a:p>
            <a:pPr marL="742950" lvl="1" indent="-285750">
              <a:buFont typeface="Arial" panose="020B0604020202020204" pitchFamily="34" charset="0"/>
              <a:buChar char="•"/>
            </a:pPr>
            <a:r>
              <a:rPr lang="en-US" baseline="0" dirty="0" smtClean="0">
                <a:solidFill>
                  <a:srgbClr val="000000"/>
                </a:solidFill>
                <a:latin typeface="Times New Roman" panose="02020603050405020304" pitchFamily="18" charset="0"/>
              </a:rPr>
              <a:t>Package</a:t>
            </a:r>
            <a:r>
              <a:rPr lang="en-US" dirty="0" smtClean="0">
                <a:solidFill>
                  <a:srgbClr val="000000"/>
                </a:solidFill>
                <a:latin typeface="Times New Roman" panose="02020603050405020304" pitchFamily="18" charset="0"/>
              </a:rPr>
              <a:t> Diagram</a:t>
            </a:r>
          </a:p>
          <a:p>
            <a:pPr marL="742950" lvl="1" indent="-285750">
              <a:buFont typeface="Arial" panose="020B0604020202020204" pitchFamily="34" charset="0"/>
              <a:buChar char="•"/>
            </a:pPr>
            <a:r>
              <a:rPr lang="en-US" b="0" i="0" u="none" strike="noStrike" baseline="0" dirty="0" smtClean="0">
                <a:solidFill>
                  <a:srgbClr val="000000"/>
                </a:solidFill>
                <a:latin typeface="Times New Roman" panose="02020603050405020304" pitchFamily="18" charset="0"/>
              </a:rPr>
              <a:t>JSON Tree </a:t>
            </a:r>
            <a:r>
              <a:rPr lang="en-US" b="0" i="0" u="none" strike="noStrike" dirty="0" smtClean="0">
                <a:solidFill>
                  <a:srgbClr val="000000"/>
                </a:solidFill>
                <a:latin typeface="Times New Roman" panose="02020603050405020304" pitchFamily="18" charset="0"/>
              </a:rPr>
              <a:t>Diagram</a:t>
            </a:r>
            <a:endParaRPr lang="en-US" b="0" i="0" u="none" strike="noStrike" baseline="0" dirty="0">
              <a:solidFill>
                <a:srgbClr val="000000"/>
              </a:solidFill>
              <a:latin typeface="Times New Roman" panose="02020603050405020304" pitchFamily="18" charset="0"/>
            </a:endParaRPr>
          </a:p>
          <a:p>
            <a:pPr marL="742950" lvl="1"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System Sequence Diagrams</a:t>
            </a:r>
          </a:p>
          <a:p>
            <a:pPr marL="742950" lvl="1" indent="-285750">
              <a:buFont typeface="Arial" panose="020B0604020202020204" pitchFamily="34" charset="0"/>
              <a:buChar char="•"/>
            </a:pPr>
            <a:r>
              <a:rPr lang="en-US" dirty="0" smtClean="0">
                <a:solidFill>
                  <a:srgbClr val="000000"/>
                </a:solidFill>
                <a:latin typeface="Times New Roman" panose="02020603050405020304" pitchFamily="18" charset="0"/>
              </a:rPr>
              <a:t>Activity Diagram</a:t>
            </a:r>
          </a:p>
          <a:p>
            <a:pPr marL="742950" lvl="1" indent="-285750">
              <a:buFont typeface="Arial" panose="020B0604020202020204" pitchFamily="34" charset="0"/>
              <a:buChar char="•"/>
            </a:pPr>
            <a:r>
              <a:rPr lang="en-US" dirty="0" smtClean="0">
                <a:solidFill>
                  <a:srgbClr val="000000"/>
                </a:solidFill>
                <a:latin typeface="Times New Roman" panose="02020603050405020304" pitchFamily="18" charset="0"/>
              </a:rPr>
              <a:t>Data Flow Diagram</a:t>
            </a:r>
          </a:p>
          <a:p>
            <a:pPr marL="742950" lvl="1" indent="-285750">
              <a:buFont typeface="Arial" panose="020B0604020202020204" pitchFamily="34" charset="0"/>
              <a:buChar char="•"/>
            </a:pPr>
            <a:r>
              <a:rPr lang="en-US" b="0" i="0" u="none" strike="noStrike" baseline="0" dirty="0" smtClean="0">
                <a:solidFill>
                  <a:srgbClr val="000000"/>
                </a:solidFill>
                <a:latin typeface="Times New Roman" panose="02020603050405020304" pitchFamily="18" charset="0"/>
              </a:rPr>
              <a:t>Architecture</a:t>
            </a:r>
            <a:r>
              <a:rPr lang="en-US" b="0" i="0" u="none" strike="noStrike" dirty="0" smtClean="0">
                <a:solidFill>
                  <a:srgbClr val="000000"/>
                </a:solidFill>
                <a:latin typeface="Times New Roman" panose="02020603050405020304" pitchFamily="18" charset="0"/>
              </a:rPr>
              <a:t> Diagram</a:t>
            </a:r>
          </a:p>
          <a:p>
            <a:pPr marL="742950" lvl="1" indent="-285750">
              <a:buFont typeface="Arial" panose="020B0604020202020204" pitchFamily="34" charset="0"/>
              <a:buChar char="•"/>
            </a:pPr>
            <a:r>
              <a:rPr lang="en-US" dirty="0">
                <a:solidFill>
                  <a:srgbClr val="000000"/>
                </a:solidFill>
                <a:latin typeface="Times New Roman" panose="02020603050405020304" pitchFamily="18" charset="0"/>
              </a:rPr>
              <a:t>Literature </a:t>
            </a:r>
            <a:r>
              <a:rPr lang="en-US" dirty="0" smtClean="0">
                <a:solidFill>
                  <a:srgbClr val="000000"/>
                </a:solidFill>
                <a:latin typeface="Times New Roman" panose="02020603050405020304" pitchFamily="18" charset="0"/>
              </a:rPr>
              <a:t>Review</a:t>
            </a:r>
            <a:endParaRPr lang="en-US" b="0" i="0" u="none" strike="noStrike" dirty="0" smtClean="0">
              <a:solidFill>
                <a:srgbClr val="000000"/>
              </a:solidFill>
              <a:latin typeface="Times New Roman" panose="02020603050405020304" pitchFamily="18" charset="0"/>
            </a:endParaRPr>
          </a:p>
          <a:p>
            <a:pPr marL="742950" lvl="1" indent="-285750">
              <a:buFont typeface="Arial" panose="020B0604020202020204" pitchFamily="34" charset="0"/>
              <a:buChar char="•"/>
            </a:pPr>
            <a:r>
              <a:rPr lang="en-US" dirty="0">
                <a:solidFill>
                  <a:srgbClr val="000000"/>
                </a:solidFill>
                <a:latin typeface="Times New Roman" panose="02020603050405020304" pitchFamily="18" charset="0"/>
              </a:rPr>
              <a:t>Use Cases to </a:t>
            </a:r>
            <a:r>
              <a:rPr lang="en-US" dirty="0" smtClean="0">
                <a:solidFill>
                  <a:srgbClr val="000000"/>
                </a:solidFill>
                <a:latin typeface="Times New Roman" panose="02020603050405020304" pitchFamily="18" charset="0"/>
              </a:rPr>
              <a:t>Commit</a:t>
            </a:r>
          </a:p>
          <a:p>
            <a:pPr marL="742950" lvl="1" indent="-285750">
              <a:buFont typeface="Arial" panose="020B0604020202020204" pitchFamily="34" charset="0"/>
              <a:buChar char="•"/>
            </a:pPr>
            <a:r>
              <a:rPr lang="en-US" dirty="0" smtClean="0">
                <a:solidFill>
                  <a:srgbClr val="000000"/>
                </a:solidFill>
                <a:latin typeface="Times New Roman" panose="02020603050405020304" pitchFamily="18" charset="0"/>
              </a:rPr>
              <a:t>Pipeline Diagram</a:t>
            </a:r>
          </a:p>
          <a:p>
            <a:pPr marL="742950" lvl="1" indent="-285750">
              <a:buFont typeface="Arial" panose="020B0604020202020204" pitchFamily="34" charset="0"/>
              <a:buChar char="•"/>
            </a:pPr>
            <a:r>
              <a:rPr lang="en-US" b="0" i="0" u="none" strike="noStrike" baseline="0" dirty="0" smtClean="0">
                <a:solidFill>
                  <a:srgbClr val="000000"/>
                </a:solidFill>
                <a:latin typeface="Times New Roman" panose="02020603050405020304" pitchFamily="18" charset="0"/>
              </a:rPr>
              <a:t>Research</a:t>
            </a:r>
            <a:r>
              <a:rPr lang="en-US" b="0" i="0" u="none" strike="noStrike" dirty="0" smtClean="0">
                <a:solidFill>
                  <a:srgbClr val="000000"/>
                </a:solidFill>
                <a:latin typeface="Times New Roman" panose="02020603050405020304" pitchFamily="18" charset="0"/>
              </a:rPr>
              <a:t> work to Commit</a:t>
            </a:r>
            <a:endParaRPr lang="en-US" b="0" i="0" u="none" strike="noStrike" baseline="0" dirty="0" smtClean="0">
              <a:solidFill>
                <a:srgbClr val="000000"/>
              </a:solidFill>
              <a:latin typeface="Times New Roman" panose="02020603050405020304" pitchFamily="18" charset="0"/>
            </a:endParaRPr>
          </a:p>
          <a:p>
            <a:pPr marL="742950" lvl="1" indent="-285750">
              <a:buFont typeface="Arial" panose="020B0604020202020204" pitchFamily="34" charset="0"/>
              <a:buChar char="•"/>
            </a:pPr>
            <a:r>
              <a:rPr lang="en-US" b="0" i="0" u="none" strike="noStrike" baseline="0" dirty="0" smtClean="0">
                <a:solidFill>
                  <a:srgbClr val="000000"/>
                </a:solidFill>
                <a:latin typeface="Times New Roman" panose="02020603050405020304" pitchFamily="18" charset="0"/>
              </a:rPr>
              <a:t>Base Model Evaluation</a:t>
            </a:r>
          </a:p>
          <a:p>
            <a:pPr marL="742950" lvl="1" indent="-285750">
              <a:buFont typeface="Arial" panose="020B0604020202020204" pitchFamily="34" charset="0"/>
              <a:buChar char="•"/>
            </a:pPr>
            <a:r>
              <a:rPr lang="en-US" dirty="0" smtClean="0">
                <a:solidFill>
                  <a:srgbClr val="000000"/>
                </a:solidFill>
                <a:latin typeface="Times New Roman" panose="02020603050405020304" pitchFamily="18" charset="0"/>
              </a:rPr>
              <a:t>References</a:t>
            </a:r>
          </a:p>
          <a:p>
            <a:pPr marL="742950" lvl="1" indent="-285750">
              <a:buFont typeface="Arial" panose="020B0604020202020204" pitchFamily="34" charset="0"/>
              <a:buChar char="•"/>
            </a:pPr>
            <a:endParaRPr lang="en-US" b="0" i="0" u="none" strike="noStrike" baseline="0" dirty="0">
              <a:solidFill>
                <a:srgbClr val="00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80" y="362021"/>
            <a:ext cx="8952914" cy="1325563"/>
          </a:xfrm>
        </p:spPr>
        <p:txBody>
          <a:bodyPr/>
          <a:lstStyle/>
          <a:p>
            <a:r>
              <a:rPr lang="en-US" b="1" u="sng" dirty="0">
                <a:solidFill>
                  <a:schemeClr val="accent1"/>
                </a:solidFill>
              </a:rPr>
              <a:t>Project Introduction</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Shape 3"/>
          <p:cNvSpPr/>
          <p:nvPr/>
        </p:nvSpPr>
        <p:spPr>
          <a:xfrm>
            <a:off x="449699" y="1635668"/>
            <a:ext cx="22860" cy="4244340"/>
          </a:xfrm>
          <a:prstGeom prst="roundRect">
            <a:avLst>
              <a:gd name="adj" fmla="val 115638"/>
            </a:avLst>
          </a:prstGeom>
          <a:solidFill>
            <a:srgbClr val="D8D4D4"/>
          </a:solidFill>
        </p:spPr>
      </p:sp>
      <p:sp>
        <p:nvSpPr>
          <p:cNvPr id="34" name="Shape 5"/>
          <p:cNvSpPr/>
          <p:nvPr/>
        </p:nvSpPr>
        <p:spPr>
          <a:xfrm>
            <a:off x="259056" y="3357033"/>
            <a:ext cx="396478" cy="396478"/>
          </a:xfrm>
          <a:prstGeom prst="roundRect">
            <a:avLst>
              <a:gd name="adj" fmla="val 6667"/>
            </a:avLst>
          </a:prstGeom>
          <a:solidFill>
            <a:srgbClr val="F9F7F7"/>
          </a:solidFill>
        </p:spPr>
      </p:sp>
      <p:sp>
        <p:nvSpPr>
          <p:cNvPr id="35" name="Rectangle 34"/>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
        <p:nvSpPr>
          <p:cNvPr id="36" name="Shape 4"/>
          <p:cNvSpPr/>
          <p:nvPr/>
        </p:nvSpPr>
        <p:spPr>
          <a:xfrm>
            <a:off x="636508" y="2020716"/>
            <a:ext cx="616744" cy="22860"/>
          </a:xfrm>
          <a:prstGeom prst="roundRect">
            <a:avLst>
              <a:gd name="adj" fmla="val 115638"/>
            </a:avLst>
          </a:prstGeom>
          <a:solidFill>
            <a:srgbClr val="D8D4D4"/>
          </a:solidFill>
        </p:spPr>
      </p:sp>
      <p:sp>
        <p:nvSpPr>
          <p:cNvPr id="37" name="Shape 5"/>
          <p:cNvSpPr/>
          <p:nvPr/>
        </p:nvSpPr>
        <p:spPr>
          <a:xfrm>
            <a:off x="262890" y="1833907"/>
            <a:ext cx="396478" cy="396478"/>
          </a:xfrm>
          <a:prstGeom prst="roundRect">
            <a:avLst>
              <a:gd name="adj" fmla="val 6667"/>
            </a:avLst>
          </a:prstGeom>
          <a:solidFill>
            <a:srgbClr val="F9F7F7"/>
          </a:solidFill>
        </p:spPr>
      </p:sp>
      <p:sp>
        <p:nvSpPr>
          <p:cNvPr id="38" name="Text 6"/>
          <p:cNvSpPr/>
          <p:nvPr/>
        </p:nvSpPr>
        <p:spPr>
          <a:xfrm>
            <a:off x="401717" y="1899986"/>
            <a:ext cx="118705" cy="264319"/>
          </a:xfrm>
          <a:prstGeom prst="rect">
            <a:avLst/>
          </a:prstGeom>
          <a:noFill/>
        </p:spPr>
        <p:txBody>
          <a:bodyPr wrap="none" rtlCol="0" anchor="t"/>
          <a:lstStyle/>
          <a:p>
            <a:pPr marL="0" indent="0" algn="ctr">
              <a:lnSpc>
                <a:spcPts val="2080"/>
              </a:lnSpc>
              <a:buNone/>
            </a:pPr>
            <a:r>
              <a:rPr lang="en-US" sz="2080" dirty="0">
                <a:solidFill>
                  <a:srgbClr val="504C49"/>
                </a:solidFill>
                <a:latin typeface="Platypi" pitchFamily="34" charset="0"/>
                <a:ea typeface="Platypi" pitchFamily="34" charset="-122"/>
                <a:cs typeface="Platypi" pitchFamily="34" charset="-120"/>
              </a:rPr>
              <a:t>1</a:t>
            </a:r>
            <a:endParaRPr lang="en-US" sz="2080" dirty="0"/>
          </a:p>
        </p:txBody>
      </p:sp>
      <p:sp>
        <p:nvSpPr>
          <p:cNvPr id="39" name="Text 7"/>
          <p:cNvSpPr/>
          <p:nvPr/>
        </p:nvSpPr>
        <p:spPr>
          <a:xfrm>
            <a:off x="1430298" y="1811880"/>
            <a:ext cx="2202894" cy="275273"/>
          </a:xfrm>
          <a:prstGeom prst="rect">
            <a:avLst/>
          </a:prstGeom>
          <a:noFill/>
        </p:spPr>
        <p:txBody>
          <a:bodyPr wrap="none" rtlCol="0" anchor="t"/>
          <a:lstStyle/>
          <a:p>
            <a:pPr marL="0" indent="0" algn="l">
              <a:lnSpc>
                <a:spcPts val="2170"/>
              </a:lnSpc>
              <a:buNone/>
            </a:pPr>
            <a:r>
              <a:rPr lang="en-US" sz="2000" dirty="0">
                <a:latin typeface="Times New Roman" panose="02020603050405020304" pitchFamily="18" charset="0"/>
                <a:ea typeface="Platypi" pitchFamily="34" charset="-122"/>
                <a:cs typeface="Times New Roman" panose="02020603050405020304" pitchFamily="18" charset="0"/>
              </a:rPr>
              <a:t>Objective 1</a:t>
            </a:r>
            <a:endParaRPr lang="en-US" sz="2000" dirty="0">
              <a:latin typeface="Times New Roman" panose="02020603050405020304" pitchFamily="18" charset="0"/>
              <a:cs typeface="Times New Roman" panose="02020603050405020304" pitchFamily="18" charset="0"/>
            </a:endParaRPr>
          </a:p>
        </p:txBody>
      </p:sp>
      <p:sp>
        <p:nvSpPr>
          <p:cNvPr id="40" name="Text 8"/>
          <p:cNvSpPr/>
          <p:nvPr/>
        </p:nvSpPr>
        <p:spPr>
          <a:xfrm>
            <a:off x="1430298" y="2192880"/>
            <a:ext cx="9923502" cy="563880"/>
          </a:xfrm>
          <a:prstGeom prst="rect">
            <a:avLst/>
          </a:prstGeom>
          <a:noFill/>
        </p:spPr>
        <p:txBody>
          <a:bodyPr wrap="square" rtlCol="0" anchor="t"/>
          <a:lstStyle/>
          <a:p>
            <a:pPr marL="0" indent="0" algn="l">
              <a:lnSpc>
                <a:spcPts val="2220"/>
              </a:lnSpc>
              <a:buNone/>
            </a:pPr>
            <a:r>
              <a:rPr lang="en-US" sz="1600" dirty="0">
                <a:latin typeface="Times New Roman" panose="02020603050405020304" pitchFamily="18" charset="0"/>
                <a:ea typeface="Source Serif Pro" pitchFamily="34" charset="-122"/>
                <a:cs typeface="Times New Roman" panose="02020603050405020304" pitchFamily="18" charset="0"/>
              </a:rPr>
              <a:t>Analyze the Impact of Missing Modalities: Investigate how the absence of text or image data affects the performance of hate speech detection models.</a:t>
            </a:r>
            <a:endParaRPr lang="en-US" sz="1600" dirty="0">
              <a:latin typeface="Times New Roman" panose="02020603050405020304" pitchFamily="18" charset="0"/>
              <a:cs typeface="Times New Roman" panose="02020603050405020304" pitchFamily="18" charset="0"/>
            </a:endParaRPr>
          </a:p>
        </p:txBody>
      </p:sp>
      <p:sp>
        <p:nvSpPr>
          <p:cNvPr id="41" name="Shape 9"/>
          <p:cNvSpPr/>
          <p:nvPr/>
        </p:nvSpPr>
        <p:spPr>
          <a:xfrm>
            <a:off x="636508" y="3494233"/>
            <a:ext cx="616744" cy="22860"/>
          </a:xfrm>
          <a:prstGeom prst="roundRect">
            <a:avLst>
              <a:gd name="adj" fmla="val 115638"/>
            </a:avLst>
          </a:prstGeom>
          <a:solidFill>
            <a:srgbClr val="D8D4D4"/>
          </a:solidFill>
        </p:spPr>
      </p:sp>
      <p:sp>
        <p:nvSpPr>
          <p:cNvPr id="42" name="Text 11"/>
          <p:cNvSpPr/>
          <p:nvPr/>
        </p:nvSpPr>
        <p:spPr>
          <a:xfrm>
            <a:off x="375642" y="3373504"/>
            <a:ext cx="170855" cy="264319"/>
          </a:xfrm>
          <a:prstGeom prst="rect">
            <a:avLst/>
          </a:prstGeom>
          <a:noFill/>
        </p:spPr>
        <p:txBody>
          <a:bodyPr wrap="none" rtlCol="0" anchor="t"/>
          <a:lstStyle/>
          <a:p>
            <a:pPr marL="0" indent="0" algn="ctr">
              <a:lnSpc>
                <a:spcPts val="2080"/>
              </a:lnSpc>
              <a:buNone/>
            </a:pPr>
            <a:r>
              <a:rPr lang="en-US" sz="2080" dirty="0">
                <a:solidFill>
                  <a:srgbClr val="504C49"/>
                </a:solidFill>
                <a:latin typeface="Platypi" pitchFamily="34" charset="0"/>
                <a:ea typeface="Platypi" pitchFamily="34" charset="-122"/>
                <a:cs typeface="Platypi" pitchFamily="34" charset="-120"/>
              </a:rPr>
              <a:t>2</a:t>
            </a:r>
            <a:endParaRPr lang="en-US" sz="2080" dirty="0"/>
          </a:p>
        </p:txBody>
      </p:sp>
      <p:sp>
        <p:nvSpPr>
          <p:cNvPr id="43" name="Text 12"/>
          <p:cNvSpPr/>
          <p:nvPr/>
        </p:nvSpPr>
        <p:spPr>
          <a:xfrm>
            <a:off x="1430298" y="3285398"/>
            <a:ext cx="2202894" cy="275273"/>
          </a:xfrm>
          <a:prstGeom prst="rect">
            <a:avLst/>
          </a:prstGeom>
          <a:noFill/>
        </p:spPr>
        <p:txBody>
          <a:bodyPr wrap="none" rtlCol="0" anchor="t"/>
          <a:lstStyle/>
          <a:p>
            <a:pPr marL="0" indent="0" algn="l">
              <a:lnSpc>
                <a:spcPts val="2170"/>
              </a:lnSpc>
              <a:buNone/>
            </a:pPr>
            <a:r>
              <a:rPr lang="en-US" sz="2000" dirty="0">
                <a:latin typeface="Times New Roman" panose="02020603050405020304" pitchFamily="18" charset="0"/>
                <a:ea typeface="Platypi" pitchFamily="34" charset="-122"/>
                <a:cs typeface="Times New Roman" panose="02020603050405020304" pitchFamily="18" charset="0"/>
              </a:rPr>
              <a:t>Objective 2</a:t>
            </a:r>
            <a:endParaRPr lang="en-US" sz="2000" dirty="0">
              <a:latin typeface="Times New Roman" panose="02020603050405020304" pitchFamily="18" charset="0"/>
              <a:cs typeface="Times New Roman" panose="02020603050405020304" pitchFamily="18" charset="0"/>
            </a:endParaRPr>
          </a:p>
        </p:txBody>
      </p:sp>
      <p:sp>
        <p:nvSpPr>
          <p:cNvPr id="44" name="Text 13"/>
          <p:cNvSpPr/>
          <p:nvPr/>
        </p:nvSpPr>
        <p:spPr>
          <a:xfrm>
            <a:off x="1430298" y="3666398"/>
            <a:ext cx="9923502" cy="563880"/>
          </a:xfrm>
          <a:prstGeom prst="rect">
            <a:avLst/>
          </a:prstGeom>
          <a:noFill/>
        </p:spPr>
        <p:txBody>
          <a:bodyPr wrap="square" rtlCol="0" anchor="t"/>
          <a:lstStyle/>
          <a:p>
            <a:pPr marL="0" indent="0" algn="l">
              <a:lnSpc>
                <a:spcPts val="2220"/>
              </a:lnSpc>
              <a:buNone/>
            </a:pPr>
            <a:r>
              <a:rPr lang="en-US" sz="1600" dirty="0">
                <a:latin typeface="Times New Roman" panose="02020603050405020304" pitchFamily="18" charset="0"/>
                <a:ea typeface="Source Serif Pro" pitchFamily="34" charset="-122"/>
                <a:cs typeface="Times New Roman" panose="02020603050405020304" pitchFamily="18" charset="0"/>
              </a:rPr>
              <a:t>Propose a Robust Solution: Develop a strategy for creating a more resilient detection system that can effectively handle missing modalities.</a:t>
            </a:r>
            <a:endParaRPr lang="en-US" sz="1600" dirty="0">
              <a:latin typeface="Times New Roman" panose="02020603050405020304" pitchFamily="18" charset="0"/>
              <a:cs typeface="Times New Roman" panose="02020603050405020304" pitchFamily="18" charset="0"/>
            </a:endParaRPr>
          </a:p>
        </p:txBody>
      </p:sp>
      <p:sp>
        <p:nvSpPr>
          <p:cNvPr id="45" name="Shape 14"/>
          <p:cNvSpPr/>
          <p:nvPr/>
        </p:nvSpPr>
        <p:spPr>
          <a:xfrm>
            <a:off x="636508" y="4967751"/>
            <a:ext cx="616744" cy="22860"/>
          </a:xfrm>
          <a:prstGeom prst="roundRect">
            <a:avLst>
              <a:gd name="adj" fmla="val 115638"/>
            </a:avLst>
          </a:prstGeom>
          <a:solidFill>
            <a:srgbClr val="D8D4D4"/>
          </a:solidFill>
        </p:spPr>
      </p:sp>
      <p:sp>
        <p:nvSpPr>
          <p:cNvPr id="46" name="Shape 15"/>
          <p:cNvSpPr/>
          <p:nvPr/>
        </p:nvSpPr>
        <p:spPr>
          <a:xfrm>
            <a:off x="262890" y="4780942"/>
            <a:ext cx="396478" cy="396478"/>
          </a:xfrm>
          <a:prstGeom prst="roundRect">
            <a:avLst>
              <a:gd name="adj" fmla="val 6667"/>
            </a:avLst>
          </a:prstGeom>
          <a:solidFill>
            <a:srgbClr val="F9F7F7"/>
          </a:solidFill>
        </p:spPr>
      </p:sp>
      <p:sp>
        <p:nvSpPr>
          <p:cNvPr id="47" name="Text 16"/>
          <p:cNvSpPr/>
          <p:nvPr/>
        </p:nvSpPr>
        <p:spPr>
          <a:xfrm>
            <a:off x="378619" y="4847021"/>
            <a:ext cx="165021" cy="264319"/>
          </a:xfrm>
          <a:prstGeom prst="rect">
            <a:avLst/>
          </a:prstGeom>
          <a:noFill/>
        </p:spPr>
        <p:txBody>
          <a:bodyPr wrap="none" rtlCol="0" anchor="t"/>
          <a:lstStyle/>
          <a:p>
            <a:pPr marL="0" indent="0" algn="ctr">
              <a:lnSpc>
                <a:spcPts val="2080"/>
              </a:lnSpc>
              <a:buNone/>
            </a:pPr>
            <a:r>
              <a:rPr lang="en-US" sz="2080" dirty="0">
                <a:solidFill>
                  <a:srgbClr val="504C49"/>
                </a:solidFill>
                <a:latin typeface="Platypi" pitchFamily="34" charset="0"/>
                <a:ea typeface="Platypi" pitchFamily="34" charset="-122"/>
                <a:cs typeface="Platypi" pitchFamily="34" charset="-120"/>
              </a:rPr>
              <a:t>3</a:t>
            </a:r>
            <a:endParaRPr lang="en-US" sz="2080" dirty="0"/>
          </a:p>
        </p:txBody>
      </p:sp>
      <p:sp>
        <p:nvSpPr>
          <p:cNvPr id="48" name="Text 17"/>
          <p:cNvSpPr/>
          <p:nvPr/>
        </p:nvSpPr>
        <p:spPr>
          <a:xfrm>
            <a:off x="1430298" y="4758915"/>
            <a:ext cx="2202894" cy="275273"/>
          </a:xfrm>
          <a:prstGeom prst="rect">
            <a:avLst/>
          </a:prstGeom>
          <a:noFill/>
        </p:spPr>
        <p:txBody>
          <a:bodyPr wrap="none" rtlCol="0" anchor="t"/>
          <a:lstStyle/>
          <a:p>
            <a:pPr marL="0" indent="0" algn="l">
              <a:lnSpc>
                <a:spcPts val="2170"/>
              </a:lnSpc>
              <a:buNone/>
            </a:pPr>
            <a:r>
              <a:rPr lang="en-US" sz="2000" dirty="0">
                <a:latin typeface="Times New Roman" panose="02020603050405020304" pitchFamily="18" charset="0"/>
                <a:ea typeface="Platypi" pitchFamily="34" charset="-122"/>
                <a:cs typeface="Times New Roman" panose="02020603050405020304" pitchFamily="18" charset="0"/>
              </a:rPr>
              <a:t>Objective 3</a:t>
            </a:r>
            <a:endParaRPr lang="en-US" sz="2000" dirty="0">
              <a:latin typeface="Times New Roman" panose="02020603050405020304" pitchFamily="18" charset="0"/>
              <a:cs typeface="Times New Roman" panose="02020603050405020304" pitchFamily="18" charset="0"/>
            </a:endParaRPr>
          </a:p>
        </p:txBody>
      </p:sp>
      <p:sp>
        <p:nvSpPr>
          <p:cNvPr id="49" name="Text 18"/>
          <p:cNvSpPr/>
          <p:nvPr/>
        </p:nvSpPr>
        <p:spPr>
          <a:xfrm>
            <a:off x="1430298" y="5139915"/>
            <a:ext cx="9923502" cy="563880"/>
          </a:xfrm>
          <a:prstGeom prst="rect">
            <a:avLst/>
          </a:prstGeom>
          <a:noFill/>
        </p:spPr>
        <p:txBody>
          <a:bodyPr wrap="square" rtlCol="0" anchor="t"/>
          <a:lstStyle/>
          <a:p>
            <a:pPr marL="0" indent="0" algn="l">
              <a:lnSpc>
                <a:spcPts val="2220"/>
              </a:lnSpc>
              <a:buNone/>
            </a:pPr>
            <a:r>
              <a:rPr lang="en-US" sz="1600" dirty="0" smtClean="0">
                <a:latin typeface="Times New Roman" panose="02020603050405020304" pitchFamily="18" charset="0"/>
                <a:ea typeface="Source Serif Pro" pitchFamily="34" charset="-122"/>
                <a:cs typeface="Times New Roman" panose="02020603050405020304" pitchFamily="18" charset="0"/>
              </a:rPr>
              <a:t>Explore </a:t>
            </a:r>
            <a:r>
              <a:rPr lang="en-US" sz="1600" dirty="0">
                <a:latin typeface="Times New Roman" panose="02020603050405020304" pitchFamily="18" charset="0"/>
                <a:ea typeface="Source Serif Pro" pitchFamily="34" charset="-122"/>
                <a:cs typeface="Times New Roman" panose="02020603050405020304" pitchFamily="18" charset="0"/>
              </a:rPr>
              <a:t>the idea of integrating the proposed solution into a practical tool, such as a browser extension, to enhance user safety in real-world applications.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365250" y="1400175"/>
            <a:ext cx="8124190" cy="4695825"/>
          </a:xfrm>
          <a:prstGeom prst="rect">
            <a:avLst/>
          </a:prstGeom>
        </p:spPr>
      </p:pic>
      <p:sp>
        <p:nvSpPr>
          <p:cNvPr id="2" name="Title 1"/>
          <p:cNvSpPr>
            <a:spLocks noGrp="1"/>
          </p:cNvSpPr>
          <p:nvPr>
            <p:ph type="title"/>
          </p:nvPr>
        </p:nvSpPr>
        <p:spPr>
          <a:xfrm>
            <a:off x="866480" y="362021"/>
            <a:ext cx="8952914" cy="1325563"/>
          </a:xfrm>
        </p:spPr>
        <p:txBody>
          <a:bodyPr/>
          <a:lstStyle/>
          <a:p>
            <a:r>
              <a:rPr lang="en-US" b="1" u="sng" dirty="0">
                <a:solidFill>
                  <a:schemeClr val="accent1"/>
                </a:solidFill>
              </a:rPr>
              <a:t>Policies</a:t>
            </a:r>
            <a:endParaRPr lang="en-US" dirty="0"/>
          </a:p>
        </p:txBody>
      </p:sp>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6</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Box 11"/>
          <p:cNvSpPr txBox="1"/>
          <p:nvPr/>
        </p:nvSpPr>
        <p:spPr>
          <a:xfrm>
            <a:off x="3395345" y="6232525"/>
            <a:ext cx="4064000" cy="337185"/>
          </a:xfrm>
          <a:prstGeom prst="rect">
            <a:avLst/>
          </a:prstGeom>
          <a:noFill/>
        </p:spPr>
        <p:txBody>
          <a:bodyPr wrap="square" rtlCol="0">
            <a:spAutoFit/>
          </a:bodyPr>
          <a:lstStyle/>
          <a:p>
            <a:pPr algn="ctr"/>
            <a:r>
              <a:rPr lang="en-US" sz="1600" i="1"/>
              <a:t>Table 1 Policies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80" y="362021"/>
            <a:ext cx="8952914" cy="1325563"/>
          </a:xfrm>
        </p:spPr>
        <p:txBody>
          <a:bodyPr/>
          <a:lstStyle/>
          <a:p>
            <a:r>
              <a:rPr lang="en-US" b="1" u="sng" dirty="0">
                <a:solidFill>
                  <a:schemeClr val="accent1"/>
                </a:solidFill>
              </a:rPr>
              <a:t>Policies</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7</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4"/>
          <a:stretch>
            <a:fillRect/>
          </a:stretch>
        </p:blipFill>
        <p:spPr>
          <a:xfrm>
            <a:off x="866775" y="1475740"/>
            <a:ext cx="8881745" cy="425704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Use Case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8</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p:cNvPicPr/>
          <p:nvPr/>
        </p:nvPicPr>
        <p:blipFill>
          <a:blip r:embed="rId4" cstate="print">
            <a:extLst>
              <a:ext uri="{28A0092B-C50C-407E-A947-70E740481C1C}">
                <a14:useLocalDpi xmlns:a14="http://schemas.microsoft.com/office/drawing/2010/main" val="0"/>
              </a:ext>
            </a:extLst>
          </a:blip>
          <a:stretch>
            <a:fillRect/>
          </a:stretch>
        </p:blipFill>
        <p:spPr>
          <a:xfrm>
            <a:off x="2611226" y="1338606"/>
            <a:ext cx="6794200" cy="501774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Domain Model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9</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descr="A black background with white text&#10;&#10;Description automatically generated"/>
          <p:cNvPicPr/>
          <p:nvPr/>
        </p:nvPicPr>
        <p:blipFill>
          <a:blip r:embed="rId4">
            <a:extLst>
              <a:ext uri="{28A0092B-C50C-407E-A947-70E740481C1C}">
                <a14:useLocalDpi xmlns:a14="http://schemas.microsoft.com/office/drawing/2010/main" val="0"/>
              </a:ext>
            </a:extLst>
          </a:blip>
          <a:stretch>
            <a:fillRect/>
          </a:stretch>
        </p:blipFill>
        <p:spPr>
          <a:xfrm>
            <a:off x="1329179" y="1781809"/>
            <a:ext cx="8764391" cy="423249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Component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10</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1" name="Picture 10" descr="A diagram of a computer&#10;&#10;Description automatically generated"/>
          <p:cNvPicPr/>
          <p:nvPr/>
        </p:nvPicPr>
        <p:blipFill>
          <a:blip r:embed="rId4">
            <a:extLst>
              <a:ext uri="{28A0092B-C50C-407E-A947-70E740481C1C}">
                <a14:useLocalDpi xmlns:a14="http://schemas.microsoft.com/office/drawing/2010/main" val="0"/>
              </a:ext>
            </a:extLst>
          </a:blip>
          <a:stretch>
            <a:fillRect/>
          </a:stretch>
        </p:blipFill>
        <p:spPr>
          <a:xfrm>
            <a:off x="1517715" y="1500187"/>
            <a:ext cx="8273399" cy="459895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Package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11</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2" name="Picture 11" descr="C:/Users/wajee/Downloads/pkg.jpgpkg"/>
          <p:cNvPicPr/>
          <p:nvPr/>
        </p:nvPicPr>
        <p:blipFill>
          <a:blip r:embed="rId4"/>
          <a:srcRect t="7596" b="7596"/>
          <a:stretch>
            <a:fillRect/>
          </a:stretch>
        </p:blipFill>
        <p:spPr>
          <a:xfrm>
            <a:off x="1527142" y="1497329"/>
            <a:ext cx="8566428" cy="472249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3685881" y="365125"/>
            <a:ext cx="7100522" cy="5991225"/>
          </a:xfrm>
          <a:prstGeom prst="rect">
            <a:avLst/>
          </a:prstGeom>
        </p:spPr>
      </p:pic>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JSON Tree </a:t>
            </a:r>
            <a:r>
              <a:rPr lang="en-US" b="1" u="sng" dirty="0">
                <a:solidFill>
                  <a:schemeClr val="accent1"/>
                </a:solidFill>
              </a:rPr>
              <a:t>Diagram</a:t>
            </a:r>
            <a:endParaRPr lang="en-US" dirty="0"/>
          </a:p>
        </p:txBody>
      </p:sp>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12</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3341269" y="1436012"/>
            <a:ext cx="4706620" cy="5241303"/>
          </a:xfrm>
          <a:prstGeom prst="rect">
            <a:avLst/>
          </a:prstGeom>
        </p:spPr>
      </p:pic>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System Sequence Diagram</a:t>
            </a:r>
            <a:endParaRPr lang="en-US" dirty="0"/>
          </a:p>
        </p:txBody>
      </p:sp>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13</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
        <p:nvSpPr>
          <p:cNvPr id="4" name="Rectangle 3"/>
          <p:cNvSpPr/>
          <p:nvPr/>
        </p:nvSpPr>
        <p:spPr>
          <a:xfrm>
            <a:off x="5147325" y="6326082"/>
            <a:ext cx="6054345" cy="369332"/>
          </a:xfrm>
          <a:prstGeom prst="rect">
            <a:avLst/>
          </a:prstGeom>
        </p:spPr>
        <p:txBody>
          <a:bodyPr wrap="square">
            <a:spAutoFit/>
          </a:bodyPr>
          <a:lstStyle/>
          <a:p>
            <a:pPr marL="2134235"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15"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Sign</a:t>
            </a:r>
            <a:r>
              <a:rPr lang="en-US" b="1" spc="-35"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In/Registration</a:t>
            </a:r>
            <a:r>
              <a:rPr lang="en-US" b="1" spc="-40"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(SSD)</a:t>
            </a:r>
            <a:endParaRPr lang="en-US"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System Sequence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14</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11" name="Picture 10"/>
          <p:cNvPicPr/>
          <p:nvPr/>
        </p:nvPicPr>
        <p:blipFill>
          <a:blip r:embed="rId4">
            <a:extLst>
              <a:ext uri="{28A0092B-C50C-407E-A947-70E740481C1C}">
                <a14:useLocalDpi xmlns:a14="http://schemas.microsoft.com/office/drawing/2010/main" val="0"/>
              </a:ext>
            </a:extLst>
          </a:blip>
          <a:stretch>
            <a:fillRect/>
          </a:stretch>
        </p:blipFill>
        <p:spPr>
          <a:xfrm>
            <a:off x="3766844" y="1566290"/>
            <a:ext cx="4634865" cy="4551706"/>
          </a:xfrm>
          <a:prstGeom prst="rect">
            <a:avLst/>
          </a:prstGeom>
        </p:spPr>
      </p:pic>
      <p:sp>
        <p:nvSpPr>
          <p:cNvPr id="7" name="Rectangle 6"/>
          <p:cNvSpPr/>
          <p:nvPr/>
        </p:nvSpPr>
        <p:spPr>
          <a:xfrm>
            <a:off x="2240776" y="6352143"/>
            <a:ext cx="5561138" cy="369332"/>
          </a:xfrm>
          <a:prstGeom prst="rect">
            <a:avLst/>
          </a:prstGeom>
        </p:spPr>
        <p:txBody>
          <a:bodyPr wrap="none">
            <a:spAutoFit/>
          </a:bodyPr>
          <a:lstStyle/>
          <a:p>
            <a:pPr marL="2268220"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10"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Manage</a:t>
            </a:r>
            <a:r>
              <a:rPr lang="en-US" b="1" spc="-4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Profile</a:t>
            </a:r>
            <a:r>
              <a:rPr lang="en-US" b="1" spc="-45"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(SSD)</a:t>
            </a:r>
            <a:endParaRPr lang="en-US"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System Sequence Diagram </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15</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4035425" y="1508760"/>
            <a:ext cx="4121150" cy="4847590"/>
          </a:xfrm>
          <a:prstGeom prst="rect">
            <a:avLst/>
          </a:prstGeom>
        </p:spPr>
      </p:pic>
      <p:sp>
        <p:nvSpPr>
          <p:cNvPr id="4" name="Rectangle 3"/>
          <p:cNvSpPr/>
          <p:nvPr/>
        </p:nvSpPr>
        <p:spPr>
          <a:xfrm>
            <a:off x="2242948" y="6354247"/>
            <a:ext cx="5705729" cy="369332"/>
          </a:xfrm>
          <a:prstGeom prst="rect">
            <a:avLst/>
          </a:prstGeom>
        </p:spPr>
        <p:txBody>
          <a:bodyPr wrap="none">
            <a:spAutoFit/>
          </a:bodyPr>
          <a:lstStyle/>
          <a:p>
            <a:pPr marL="2210435"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30"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Buy</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Subscription</a:t>
            </a:r>
            <a:r>
              <a:rPr lang="en-US" b="1" spc="-35"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(SSD)</a:t>
            </a:r>
            <a:endParaRPr lang="en-US"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System Sequence Diagram </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16</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3690747" y="1690688"/>
            <a:ext cx="4603115" cy="4290060"/>
          </a:xfrm>
          <a:prstGeom prst="rect">
            <a:avLst/>
          </a:prstGeom>
        </p:spPr>
      </p:pic>
      <p:sp>
        <p:nvSpPr>
          <p:cNvPr id="7" name="Rectangle 6"/>
          <p:cNvSpPr/>
          <p:nvPr/>
        </p:nvSpPr>
        <p:spPr>
          <a:xfrm>
            <a:off x="2321178" y="6091602"/>
            <a:ext cx="5601277" cy="369332"/>
          </a:xfrm>
          <a:prstGeom prst="rect">
            <a:avLst/>
          </a:prstGeom>
        </p:spPr>
        <p:txBody>
          <a:bodyPr wrap="none">
            <a:spAutoFit/>
          </a:bodyPr>
          <a:lstStyle/>
          <a:p>
            <a:pPr marL="2233295"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30"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Meme</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Analytics</a:t>
            </a:r>
            <a:r>
              <a:rPr lang="en-US" b="1" spc="-30"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(SSD)</a:t>
            </a:r>
            <a:endParaRPr lang="en-US" b="1"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System Sequence Diagram </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17</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3798277" y="1717635"/>
            <a:ext cx="4572000" cy="4296666"/>
          </a:xfrm>
          <a:prstGeom prst="rect">
            <a:avLst/>
          </a:prstGeom>
        </p:spPr>
      </p:pic>
      <p:sp>
        <p:nvSpPr>
          <p:cNvPr id="4" name="Rectangle 3"/>
          <p:cNvSpPr/>
          <p:nvPr/>
        </p:nvSpPr>
        <p:spPr>
          <a:xfrm>
            <a:off x="2266657" y="6125155"/>
            <a:ext cx="6096000" cy="923330"/>
          </a:xfrm>
          <a:prstGeom prst="rect">
            <a:avLst/>
          </a:prstGeom>
        </p:spPr>
        <p:txBody>
          <a:bodyPr>
            <a:spAutoFit/>
          </a:bodyPr>
          <a:lstStyle/>
          <a:p>
            <a:pPr marL="2229485"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30"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Meme</a:t>
            </a:r>
            <a:r>
              <a:rPr lang="en-US" b="1" spc="-30"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Detection</a:t>
            </a:r>
            <a:r>
              <a:rPr lang="en-US" b="1" spc="-30"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(SSD)</a:t>
            </a:r>
            <a:endParaRPr lang="en-US" b="1" dirty="0">
              <a:latin typeface="Times New Roman" panose="02020603050405020304" pitchFamily="18" charset="0"/>
              <a:ea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
            </a:r>
            <a:br>
              <a:rPr lang="en-US" dirty="0">
                <a:latin typeface="Times New Roman" panose="02020603050405020304" pitchFamily="18" charset="0"/>
                <a:ea typeface="Times New Roman" panose="02020603050405020304" pitchFamily="18" charset="0"/>
              </a:rPr>
            </a:b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484" y="771862"/>
            <a:ext cx="3119737" cy="545339"/>
          </a:xfrm>
        </p:spPr>
        <p:txBody>
          <a:bodyPr>
            <a:noAutofit/>
          </a:bodyPr>
          <a:lstStyle/>
          <a:p>
            <a:r>
              <a:rPr lang="en-US" sz="2800" b="1" u="sng" dirty="0" smtClean="0">
                <a:solidFill>
                  <a:schemeClr val="accent1"/>
                </a:solidFill>
              </a:rPr>
              <a:t>Activity Diagram </a:t>
            </a:r>
            <a:endParaRPr lang="en-US" sz="2800" dirty="0"/>
          </a:p>
        </p:txBody>
      </p:sp>
      <p:sp>
        <p:nvSpPr>
          <p:cNvPr id="5" name="Slide Number Placeholder 4"/>
          <p:cNvSpPr>
            <a:spLocks noGrp="1"/>
          </p:cNvSpPr>
          <p:nvPr>
            <p:ph type="sldNum" sz="quarter" idx="12"/>
          </p:nvPr>
        </p:nvSpPr>
        <p:spPr/>
        <p:txBody>
          <a:bodyPr/>
          <a:lstStyle/>
          <a:p>
            <a:fld id="{FCB64944-C185-42A3-B9E2-0C66306C0823}" type="slidenum">
              <a:rPr lang="en-US" smtClean="0"/>
              <a:t>18</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p:nvPr/>
        </p:nvPicPr>
        <p:blipFill>
          <a:blip r:embed="rId3" cstate="print">
            <a:extLst>
              <a:ext uri="{28A0092B-C50C-407E-A947-70E740481C1C}">
                <a14:useLocalDpi xmlns:a14="http://schemas.microsoft.com/office/drawing/2010/main" val="0"/>
              </a:ext>
            </a:extLst>
          </a:blip>
          <a:stretch>
            <a:fillRect/>
          </a:stretch>
        </p:blipFill>
        <p:spPr>
          <a:xfrm>
            <a:off x="3233394" y="448788"/>
            <a:ext cx="5754628" cy="5771037"/>
          </a:xfrm>
          <a:prstGeom prst="rect">
            <a:avLst/>
          </a:prstGeom>
        </p:spPr>
      </p:pic>
      <p:sp>
        <p:nvSpPr>
          <p:cNvPr id="3" name="Rectangle 2"/>
          <p:cNvSpPr/>
          <p:nvPr/>
        </p:nvSpPr>
        <p:spPr>
          <a:xfrm>
            <a:off x="2514600" y="6077248"/>
            <a:ext cx="6096000" cy="923330"/>
          </a:xfrm>
          <a:prstGeom prst="rect">
            <a:avLst/>
          </a:prstGeom>
        </p:spPr>
        <p:txBody>
          <a:bodyPr>
            <a:spAutoFit/>
          </a:bodyPr>
          <a:lstStyle/>
          <a:p>
            <a:pPr marL="2399030" marR="0">
              <a:spcBef>
                <a:spcPts val="935"/>
              </a:spcBef>
              <a:spcAft>
                <a:spcPts val="0"/>
              </a:spcAft>
            </a:pPr>
            <a:r>
              <a:rPr lang="en-US" b="1" dirty="0" smtClean="0">
                <a:latin typeface="Times New Roman" panose="02020603050405020304" pitchFamily="18" charset="0"/>
                <a:ea typeface="Times New Roman" panose="02020603050405020304" pitchFamily="18" charset="0"/>
              </a:rPr>
              <a:t>Figure:</a:t>
            </a:r>
            <a:r>
              <a:rPr lang="en-US" b="1" spc="20" dirty="0" smtClean="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Activity</a:t>
            </a:r>
            <a:r>
              <a:rPr lang="en-US" b="1" spc="-35" dirty="0">
                <a:latin typeface="Times New Roman" panose="02020603050405020304" pitchFamily="18" charset="0"/>
                <a:ea typeface="Times New Roman" panose="02020603050405020304" pitchFamily="18" charset="0"/>
              </a:rPr>
              <a:t> </a:t>
            </a:r>
            <a:r>
              <a:rPr lang="en-US" b="1" spc="-10" dirty="0">
                <a:latin typeface="Times New Roman" panose="02020603050405020304" pitchFamily="18" charset="0"/>
                <a:ea typeface="Times New Roman" panose="02020603050405020304" pitchFamily="18" charset="0"/>
              </a:rPr>
              <a:t>Diagram</a:t>
            </a:r>
            <a:endParaRPr lang="en-US" b="1" dirty="0">
              <a:latin typeface="Times New Roman" panose="02020603050405020304" pitchFamily="18" charset="0"/>
              <a:ea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
            </a:r>
            <a:br>
              <a:rPr lang="en-US" dirty="0">
                <a:latin typeface="Times New Roman" panose="02020603050405020304" pitchFamily="18" charset="0"/>
                <a:ea typeface="Times New Roman" panose="02020603050405020304" pitchFamily="18" charset="0"/>
              </a:rPr>
            </a:b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484" y="771862"/>
            <a:ext cx="3119737" cy="545339"/>
          </a:xfrm>
        </p:spPr>
        <p:txBody>
          <a:bodyPr>
            <a:noAutofit/>
          </a:bodyPr>
          <a:lstStyle/>
          <a:p>
            <a:r>
              <a:rPr lang="en-US" sz="2800" b="1" u="sng" dirty="0" smtClean="0">
                <a:solidFill>
                  <a:schemeClr val="accent1"/>
                </a:solidFill>
              </a:rPr>
              <a:t>Data Flow Diagram </a:t>
            </a:r>
            <a:endParaRPr lang="en-US" sz="2800" dirty="0"/>
          </a:p>
        </p:txBody>
      </p:sp>
      <p:sp>
        <p:nvSpPr>
          <p:cNvPr id="5" name="Slide Number Placeholder 4"/>
          <p:cNvSpPr>
            <a:spLocks noGrp="1"/>
          </p:cNvSpPr>
          <p:nvPr>
            <p:ph type="sldNum" sz="quarter" idx="12"/>
          </p:nvPr>
        </p:nvSpPr>
        <p:spPr/>
        <p:txBody>
          <a:bodyPr/>
          <a:lstStyle/>
          <a:p>
            <a:fld id="{FCB64944-C185-42A3-B9E2-0C66306C0823}" type="slidenum">
              <a:rPr lang="en-US" smtClean="0"/>
              <a:t>19</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C:/Users/wajee/Downloads/DFD (1).pngDFD (1)"/>
          <p:cNvPicPr/>
          <p:nvPr/>
        </p:nvPicPr>
        <p:blipFill>
          <a:blip r:embed="rId3"/>
          <a:srcRect t="3170" b="3170"/>
          <a:stretch>
            <a:fillRect/>
          </a:stretch>
        </p:blipFill>
        <p:spPr>
          <a:xfrm>
            <a:off x="2697638" y="1316713"/>
            <a:ext cx="6796724" cy="422328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484" y="771862"/>
            <a:ext cx="3119737" cy="545339"/>
          </a:xfrm>
        </p:spPr>
        <p:txBody>
          <a:bodyPr>
            <a:noAutofit/>
          </a:bodyPr>
          <a:lstStyle/>
          <a:p>
            <a:r>
              <a:rPr lang="en-US" sz="2800" b="1" u="sng" dirty="0" smtClean="0">
                <a:solidFill>
                  <a:schemeClr val="accent1"/>
                </a:solidFill>
              </a:rPr>
              <a:t>Data Flow Diagram </a:t>
            </a:r>
            <a:endParaRPr lang="en-US" sz="2800" dirty="0"/>
          </a:p>
        </p:txBody>
      </p:sp>
      <p:sp>
        <p:nvSpPr>
          <p:cNvPr id="5" name="Slide Number Placeholder 4"/>
          <p:cNvSpPr>
            <a:spLocks noGrp="1"/>
          </p:cNvSpPr>
          <p:nvPr>
            <p:ph type="sldNum" sz="quarter" idx="12"/>
          </p:nvPr>
        </p:nvSpPr>
        <p:spPr/>
        <p:txBody>
          <a:bodyPr/>
          <a:lstStyle/>
          <a:p>
            <a:fld id="{FCB64944-C185-42A3-B9E2-0C66306C0823}" type="slidenum">
              <a:rPr lang="en-US" smtClean="0"/>
              <a:t>20</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diagram of a payment process&#10;&#10;Description automatically generated"/>
          <p:cNvPicPr/>
          <p:nvPr/>
        </p:nvPicPr>
        <p:blipFill>
          <a:blip r:embed="rId3" cstate="print">
            <a:extLst>
              <a:ext uri="{28A0092B-C50C-407E-A947-70E740481C1C}">
                <a14:useLocalDpi xmlns:a14="http://schemas.microsoft.com/office/drawing/2010/main" val="0"/>
              </a:ext>
            </a:extLst>
          </a:blip>
          <a:stretch>
            <a:fillRect/>
          </a:stretch>
        </p:blipFill>
        <p:spPr>
          <a:xfrm>
            <a:off x="1781175" y="1316990"/>
            <a:ext cx="8070215" cy="492633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Architecture Diagram</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21</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pic>
        <p:nvPicPr>
          <p:cNvPr id="9" name="Picture 8"/>
          <p:cNvPicPr/>
          <p:nvPr/>
        </p:nvPicPr>
        <p:blipFill>
          <a:blip r:embed="rId4"/>
          <a:stretch>
            <a:fillRect/>
          </a:stretch>
        </p:blipFill>
        <p:spPr>
          <a:xfrm>
            <a:off x="2655023" y="1828488"/>
            <a:ext cx="7136091" cy="374372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Research</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22</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37916"/>
            <a:ext cx="10667994" cy="2739211"/>
          </a:xfrm>
          <a:prstGeom prst="rect">
            <a:avLst/>
          </a:prstGeom>
        </p:spPr>
        <p:txBody>
          <a:bodyPr wrap="square">
            <a:spAutoFit/>
          </a:bodyPr>
          <a:lstStyle/>
          <a:p>
            <a:r>
              <a:rPr lang="en-US" sz="2000" b="1" dirty="0">
                <a:solidFill>
                  <a:schemeClr val="accent1"/>
                </a:solidFill>
                <a:latin typeface="Times New Roman" panose="02020603050405020304" pitchFamily="18" charset="0"/>
                <a:cs typeface="Times New Roman" panose="02020603050405020304" pitchFamily="18" charset="0"/>
              </a:rPr>
              <a:t>Problem </a:t>
            </a:r>
            <a:r>
              <a:rPr lang="en-US" sz="2000" b="1" dirty="0" smtClean="0">
                <a:solidFill>
                  <a:schemeClr val="accent1"/>
                </a:solidFill>
                <a:latin typeface="Times New Roman" panose="02020603050405020304" pitchFamily="18" charset="0"/>
                <a:cs typeface="Times New Roman" panose="02020603050405020304" pitchFamily="18" charset="0"/>
              </a:rPr>
              <a:t>Domain:</a:t>
            </a:r>
            <a:endParaRPr lang="en-US" sz="2000" b="1" dirty="0">
              <a:solidFill>
                <a:schemeClr val="accent1"/>
              </a:solidFill>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rapid spread of hateful content, particularly in the form of memes, presents challenges across social media platforms. This content is complex, often combining text and imagery to convey harmful messages subtly. Current moderation tools struggle with multimodal content, which necessitates a sophisticated model capable of understanding both textual and visual components to detect and mitigate hate speech effectively</a:t>
            </a:r>
            <a:r>
              <a:rPr lang="en-US" sz="1600" dirty="0" smtClean="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2000" b="1" dirty="0">
                <a:solidFill>
                  <a:schemeClr val="accent1"/>
                </a:solidFill>
                <a:latin typeface="Times New Roman" panose="02020603050405020304" pitchFamily="18" charset="0"/>
                <a:cs typeface="Times New Roman" panose="02020603050405020304" pitchFamily="18" charset="0"/>
              </a:rPr>
              <a:t>Research Problem </a:t>
            </a:r>
            <a:r>
              <a:rPr lang="en-US" sz="2000" b="1" dirty="0" smtClean="0">
                <a:solidFill>
                  <a:schemeClr val="accent1"/>
                </a:solidFill>
                <a:latin typeface="Times New Roman" panose="02020603050405020304" pitchFamily="18" charset="0"/>
                <a:cs typeface="Times New Roman" panose="02020603050405020304" pitchFamily="18" charset="0"/>
              </a:rPr>
              <a:t>Statement:</a:t>
            </a:r>
            <a:endParaRPr lang="en-US" sz="2000" b="1" dirty="0">
              <a:solidFill>
                <a:schemeClr val="accent1"/>
              </a:solidFill>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This project focuses on enhancing the detection of hateful memes by improving current multimodal models and developing a Chrome extension to filter this content on social media platforms. By advancing the state-of-the-art models for hate detection in multimodal content, the project aims to create a tool that comprehensively identifies and obscures hateful memes in real-time.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52914" cy="992664"/>
          </a:xfrm>
        </p:spPr>
        <p:txBody>
          <a:bodyPr/>
          <a:lstStyle/>
          <a:p>
            <a:r>
              <a:rPr lang="en-US" b="1" u="sng" dirty="0" smtClean="0">
                <a:solidFill>
                  <a:schemeClr val="accent1"/>
                </a:solidFill>
              </a:rPr>
              <a:t>Literature Review</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23</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38200" y="1357790"/>
            <a:ext cx="10667994" cy="6955750"/>
          </a:xfrm>
          <a:prstGeom prst="rect">
            <a:avLst/>
          </a:prstGeom>
        </p:spPr>
        <p:txBody>
          <a:bodyPr wrap="square">
            <a:spAutoFit/>
          </a:bodyPr>
          <a:lstStyle/>
          <a:p>
            <a:r>
              <a:rPr lang="en-US" sz="2000" b="1" dirty="0" smtClean="0">
                <a:solidFill>
                  <a:schemeClr val="accent1"/>
                </a:solidFill>
                <a:latin typeface="Times New Roman" panose="02020603050405020304" pitchFamily="18" charset="0"/>
                <a:cs typeface="Times New Roman" panose="02020603050405020304" pitchFamily="18" charset="0"/>
              </a:rPr>
              <a:t>MOMENTA</a:t>
            </a:r>
            <a:r>
              <a:rPr lang="en-US" sz="2000" b="1" dirty="0">
                <a:solidFill>
                  <a:schemeClr val="accent1"/>
                </a:solidFill>
                <a:latin typeface="Times New Roman" panose="02020603050405020304" pitchFamily="18" charset="0"/>
                <a:cs typeface="Times New Roman" panose="02020603050405020304" pitchFamily="18" charset="0"/>
              </a:rPr>
              <a:t>: A Multimodal Framework for Detecting Harmful Memes and Their </a:t>
            </a:r>
            <a:endParaRPr lang="en-US" sz="2000" b="1" dirty="0" smtClean="0">
              <a:solidFill>
                <a:schemeClr val="accent1"/>
              </a:solidFill>
              <a:latin typeface="Times New Roman" panose="02020603050405020304" pitchFamily="18" charset="0"/>
              <a:cs typeface="Times New Roman" panose="02020603050405020304" pitchFamily="18" charset="0"/>
            </a:endParaRPr>
          </a:p>
          <a:p>
            <a:r>
              <a:rPr lang="en-US" sz="2000" b="1" dirty="0" smtClean="0">
                <a:solidFill>
                  <a:schemeClr val="accent1"/>
                </a:solidFill>
                <a:latin typeface="Times New Roman" panose="02020603050405020304" pitchFamily="18" charset="0"/>
                <a:cs typeface="Times New Roman" panose="02020603050405020304" pitchFamily="18" charset="0"/>
              </a:rPr>
              <a:t>Targets </a:t>
            </a:r>
            <a:r>
              <a:rPr lang="en-US" sz="2000" b="1" dirty="0">
                <a:solidFill>
                  <a:schemeClr val="accent1"/>
                </a:solidFill>
                <a:latin typeface="Times New Roman" panose="02020603050405020304" pitchFamily="18" charset="0"/>
                <a:cs typeface="Times New Roman" panose="02020603050405020304" pitchFamily="18" charset="0"/>
              </a:rPr>
              <a:t>(</a:t>
            </a:r>
            <a:r>
              <a:rPr lang="en-US" sz="2000" b="1" dirty="0" err="1">
                <a:solidFill>
                  <a:schemeClr val="accent1"/>
                </a:solidFill>
                <a:latin typeface="Times New Roman" panose="02020603050405020304" pitchFamily="18" charset="0"/>
                <a:cs typeface="Times New Roman" panose="02020603050405020304" pitchFamily="18" charset="0"/>
              </a:rPr>
              <a:t>Pramanick</a:t>
            </a:r>
            <a:r>
              <a:rPr lang="en-US" sz="2000" b="1" dirty="0">
                <a:solidFill>
                  <a:schemeClr val="accent1"/>
                </a:solidFill>
                <a:latin typeface="Times New Roman" panose="02020603050405020304" pitchFamily="18" charset="0"/>
                <a:cs typeface="Times New Roman" panose="02020603050405020304" pitchFamily="18" charset="0"/>
              </a:rPr>
              <a:t> et al</a:t>
            </a:r>
            <a:r>
              <a:rPr lang="en-US" sz="2000" b="1" dirty="0" smtClean="0">
                <a:solidFill>
                  <a:schemeClr val="accent1"/>
                </a:solidFill>
                <a:latin typeface="Times New Roman" panose="02020603050405020304" pitchFamily="18" charset="0"/>
                <a:cs typeface="Times New Roman" panose="02020603050405020304" pitchFamily="18" charset="0"/>
              </a:rPr>
              <a:t>., 2021):</a:t>
            </a:r>
            <a:endParaRPr lang="en-US" sz="2000" b="1" dirty="0">
              <a:solidFill>
                <a:schemeClr val="accent1"/>
              </a:solidFill>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Summary of the Research Item:</a:t>
            </a:r>
          </a:p>
          <a:p>
            <a:pPr lvl="1" algn="just"/>
            <a:r>
              <a:rPr lang="en-US" sz="1600" dirty="0">
                <a:latin typeface="Times New Roman" panose="02020603050405020304" pitchFamily="18" charset="0"/>
                <a:cs typeface="Times New Roman" panose="02020603050405020304" pitchFamily="18" charset="0"/>
              </a:rPr>
              <a:t>The MOMENTA framework by </a:t>
            </a:r>
            <a:r>
              <a:rPr lang="en-US" sz="1600" dirty="0" err="1">
                <a:latin typeface="Times New Roman" panose="02020603050405020304" pitchFamily="18" charset="0"/>
                <a:cs typeface="Times New Roman" panose="02020603050405020304" pitchFamily="18" charset="0"/>
              </a:rPr>
              <a:t>Pramanick</a:t>
            </a:r>
            <a:r>
              <a:rPr lang="en-US" sz="1600" dirty="0">
                <a:latin typeface="Times New Roman" panose="02020603050405020304" pitchFamily="18" charset="0"/>
                <a:cs typeface="Times New Roman" panose="02020603050405020304" pitchFamily="18" charset="0"/>
              </a:rPr>
              <a:t> et al. introduces a multimodal architecture for detecting harmful memes and identifying their targeted entities, based on global and local information from both image and text. MOMENTA extends the </a:t>
            </a:r>
            <a:r>
              <a:rPr lang="en-US" sz="1600" dirty="0" err="1">
                <a:latin typeface="Times New Roman" panose="02020603050405020304" pitchFamily="18" charset="0"/>
                <a:cs typeface="Times New Roman" panose="02020603050405020304" pitchFamily="18" charset="0"/>
              </a:rPr>
              <a:t>HarMeme</a:t>
            </a:r>
            <a:r>
              <a:rPr lang="en-US" sz="1600" dirty="0">
                <a:latin typeface="Times New Roman" panose="02020603050405020304" pitchFamily="18" charset="0"/>
                <a:cs typeface="Times New Roman" panose="02020603050405020304" pitchFamily="18" charset="0"/>
              </a:rPr>
              <a:t> dataset with additional categories (e.g., US politics) and utilizes various multimodal pre-trained models </a:t>
            </a:r>
            <a:r>
              <a:rPr lang="en-US" sz="1600" dirty="0" smtClean="0">
                <a:latin typeface="Times New Roman" panose="02020603050405020304" pitchFamily="18" charset="0"/>
                <a:cs typeface="Times New Roman" panose="02020603050405020304" pitchFamily="18" charset="0"/>
              </a:rPr>
              <a:t>(e.g., CLIP, VGG-19, and </a:t>
            </a:r>
            <a:r>
              <a:rPr lang="en-US" sz="1600" dirty="0" err="1" smtClean="0">
                <a:latin typeface="Times New Roman" panose="02020603050405020304" pitchFamily="18" charset="0"/>
                <a:cs typeface="Times New Roman" panose="02020603050405020304" pitchFamily="18" charset="0"/>
              </a:rPr>
              <a:t>DistilBERT</a:t>
            </a:r>
            <a:r>
              <a:rPr lang="en-US" sz="1600" dirty="0" smtClean="0">
                <a:latin typeface="Times New Roman" panose="02020603050405020304" pitchFamily="18" charset="0"/>
                <a:cs typeface="Times New Roman" panose="02020603050405020304" pitchFamily="18" charset="0"/>
              </a:rPr>
              <a:t>) to </a:t>
            </a:r>
            <a:r>
              <a:rPr lang="en-US" sz="1600" dirty="0">
                <a:latin typeface="Times New Roman" panose="02020603050405020304" pitchFamily="18" charset="0"/>
                <a:cs typeface="Times New Roman" panose="02020603050405020304" pitchFamily="18" charset="0"/>
              </a:rPr>
              <a:t>improve detection accuracy. This study emphasizes the role of contextual analysis in identifying subtle harmfulness that arises from the combination of text and images [4</a:t>
            </a:r>
            <a:r>
              <a:rPr lang="en-US" sz="1600" dirty="0" smtClean="0">
                <a:latin typeface="Times New Roman" panose="02020603050405020304" pitchFamily="18" charset="0"/>
                <a:cs typeface="Times New Roman" panose="02020603050405020304" pitchFamily="18" charset="0"/>
              </a:rPr>
              <a:t>].</a:t>
            </a:r>
          </a:p>
          <a:p>
            <a:pPr lvl="1" algn="just"/>
            <a:endParaRPr lang="en-US" sz="16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Critical Analysis</a:t>
            </a:r>
          </a:p>
          <a:p>
            <a:pPr lvl="1" algn="just"/>
            <a:r>
              <a:rPr lang="en-US" sz="1600" b="1" dirty="0">
                <a:latin typeface="Times New Roman" panose="02020603050405020304" pitchFamily="18" charset="0"/>
                <a:cs typeface="Times New Roman" panose="02020603050405020304" pitchFamily="18" charset="0"/>
              </a:rPr>
              <a:t>Strengths:</a:t>
            </a:r>
            <a:r>
              <a:rPr lang="en-US" sz="1600" dirty="0">
                <a:latin typeface="Times New Roman" panose="02020603050405020304" pitchFamily="18" charset="0"/>
                <a:cs typeface="Times New Roman" panose="02020603050405020304" pitchFamily="18" charset="0"/>
              </a:rPr>
              <a:t> MOMENTA’s hierarchical attention mechanism effectively captures both the localized and global contexts, improving its accuracy and interpretability. </a:t>
            </a:r>
          </a:p>
          <a:p>
            <a:pPr lvl="1" algn="just"/>
            <a:r>
              <a:rPr lang="en-US" sz="1600" b="1" dirty="0">
                <a:latin typeface="Times New Roman" panose="02020603050405020304" pitchFamily="18" charset="0"/>
                <a:cs typeface="Times New Roman" panose="02020603050405020304" pitchFamily="18" charset="0"/>
              </a:rPr>
              <a:t>Weaknesses:</a:t>
            </a:r>
            <a:r>
              <a:rPr lang="en-US" sz="1600" dirty="0">
                <a:latin typeface="Times New Roman" panose="02020603050405020304" pitchFamily="18" charset="0"/>
                <a:cs typeface="Times New Roman" panose="02020603050405020304" pitchFamily="18" charset="0"/>
              </a:rPr>
              <a:t> Despite MOMENTA’s robust performance, the reliance on specific pre-trained models (like CLIP) may restrict adaptability in real-time applications or for languages and contexts not covered by these models. Furthermore, the architecture’s complexity may limit its utility in lightweight, resource-constrained applications</a:t>
            </a:r>
            <a:r>
              <a:rPr lang="en-US" sz="1600" dirty="0" smtClean="0">
                <a:latin typeface="Times New Roman" panose="02020603050405020304" pitchFamily="18" charset="0"/>
                <a:cs typeface="Times New Roman" panose="02020603050405020304" pitchFamily="18" charset="0"/>
              </a:rPr>
              <a:t>.</a:t>
            </a:r>
          </a:p>
          <a:p>
            <a:pPr lvl="1" algn="just"/>
            <a:endParaRPr lang="en-US" sz="16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Relationship to the Proposed Research Work</a:t>
            </a:r>
          </a:p>
          <a:p>
            <a:pPr lvl="1" algn="just"/>
            <a:r>
              <a:rPr lang="en-US" sz="1600" dirty="0">
                <a:latin typeface="Times New Roman" panose="02020603050405020304" pitchFamily="18" charset="0"/>
                <a:cs typeface="Times New Roman" panose="02020603050405020304" pitchFamily="18" charset="0"/>
              </a:rPr>
              <a:t>The MOMENTA framework’s emphasis on context-aware multimodal fusion aligns well with our project’s objectives to filter out hateful memes accurately. Applying similar hierarchical and cross-modal attention mechanisms could enhance our Chrome extension’s capability to understand and block harmful content based on nuanced contextual cues.</a:t>
            </a:r>
          </a:p>
          <a:p>
            <a:pPr lvl="1" algn="just"/>
            <a:endParaRPr 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endParaRPr lang="en-US" sz="2800" b="1" dirty="0" smtClean="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52914" cy="992664"/>
          </a:xfrm>
        </p:spPr>
        <p:txBody>
          <a:bodyPr/>
          <a:lstStyle/>
          <a:p>
            <a:r>
              <a:rPr lang="en-US" b="1" u="sng" dirty="0" smtClean="0">
                <a:solidFill>
                  <a:schemeClr val="accent1"/>
                </a:solidFill>
              </a:rPr>
              <a:t>Literature Review</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24</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38200" y="1357790"/>
            <a:ext cx="10667994" cy="2123658"/>
          </a:xfrm>
          <a:prstGeom prst="rect">
            <a:avLst/>
          </a:prstGeom>
        </p:spPr>
        <p:txBody>
          <a:bodyPr wrap="square">
            <a:spAutoFit/>
          </a:bodyPr>
          <a:lstStyle/>
          <a:p>
            <a:r>
              <a:rPr lang="en-US" sz="2000" b="1" dirty="0" smtClean="0">
                <a:solidFill>
                  <a:schemeClr val="accent1"/>
                </a:solidFill>
                <a:latin typeface="Times New Roman" panose="02020603050405020304" pitchFamily="18" charset="0"/>
                <a:cs typeface="Times New Roman" panose="02020603050405020304" pitchFamily="18" charset="0"/>
              </a:rPr>
              <a:t>Performance:</a:t>
            </a:r>
            <a:endParaRPr lang="en-US" sz="2000" b="1" dirty="0">
              <a:solidFill>
                <a:schemeClr val="accent1"/>
              </a:solidFill>
              <a:latin typeface="Times New Roman" panose="02020603050405020304" pitchFamily="18" charset="0"/>
              <a:cs typeface="Times New Roman" panose="02020603050405020304" pitchFamily="18" charset="0"/>
            </a:endParaRPr>
          </a:p>
          <a:p>
            <a:pPr lvl="1" algn="just"/>
            <a:endParaRPr 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endParaRPr lang="en-US" sz="2800" b="1" dirty="0" smtClean="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838200" y="1796966"/>
            <a:ext cx="10134600" cy="4745236"/>
          </a:xfrm>
          <a:prstGeom prst="rect">
            <a:avLst/>
          </a:prstGeom>
        </p:spPr>
      </p:pic>
    </p:spTree>
    <p:extLst>
      <p:ext uri="{BB962C8B-B14F-4D97-AF65-F5344CB8AC3E}">
        <p14:creationId xmlns:p14="http://schemas.microsoft.com/office/powerpoint/2010/main" val="39600458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Literature Review</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25</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5201424"/>
          </a:xfrm>
          <a:prstGeom prst="rect">
            <a:avLst/>
          </a:prstGeom>
        </p:spPr>
        <p:txBody>
          <a:bodyPr wrap="square">
            <a:spAutoFit/>
          </a:bodyPr>
          <a:lstStyle/>
          <a:p>
            <a:r>
              <a:rPr lang="en-US" sz="2000" b="1" dirty="0">
                <a:solidFill>
                  <a:schemeClr val="accent1"/>
                </a:solidFill>
                <a:latin typeface="Times New Roman" panose="02020603050405020304" pitchFamily="18" charset="0"/>
                <a:cs typeface="Times New Roman" panose="02020603050405020304" pitchFamily="18" charset="0"/>
              </a:rPr>
              <a:t>Are Multimodal Transformers Robust to Missing Modality? </a:t>
            </a:r>
          </a:p>
          <a:p>
            <a:r>
              <a:rPr lang="en-US" sz="2000" b="1" dirty="0">
                <a:solidFill>
                  <a:schemeClr val="accent1"/>
                </a:solidFill>
              </a:rPr>
              <a:t>(Ma et al</a:t>
            </a:r>
            <a:r>
              <a:rPr lang="en-US" sz="2000" b="1" dirty="0" smtClean="0">
                <a:solidFill>
                  <a:schemeClr val="accent1"/>
                </a:solidFill>
              </a:rPr>
              <a:t>., 2022):</a:t>
            </a:r>
            <a:endParaRPr lang="en-US" sz="2000" b="1" dirty="0">
              <a:solidFill>
                <a:schemeClr val="accent1"/>
              </a:solidFill>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Summary of the Research Item:</a:t>
            </a:r>
          </a:p>
          <a:p>
            <a:pPr lvl="1" algn="just"/>
            <a:r>
              <a:rPr lang="en-US" sz="1600" dirty="0">
                <a:latin typeface="Times New Roman" panose="02020603050405020304" pitchFamily="18" charset="0"/>
                <a:cs typeface="Times New Roman" panose="02020603050405020304" pitchFamily="18" charset="0"/>
              </a:rPr>
              <a:t>This study investigates the robustness of Transformer-based models in multimodal tasks, especially under conditions where one modality (text or image) is missing. It examines various fusion strategies and concludes that Transformers show a notable decline in performance with missing modalities. The study also proposes an automated fusion strategy for optimal results in scenarios with incomplete modality information [4</a:t>
            </a:r>
            <a:r>
              <a:rPr lang="en-US" sz="1600"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Critical Analysis (Strengths and Weaknesses):</a:t>
            </a:r>
            <a:r>
              <a:rPr lang="en-US" sz="2400" b="1" dirty="0">
                <a:latin typeface="Times New Roman" panose="02020603050405020304" pitchFamily="18" charset="0"/>
                <a:cs typeface="Times New Roman" panose="02020603050405020304" pitchFamily="18" charset="0"/>
              </a:rPr>
              <a:t>	</a:t>
            </a:r>
          </a:p>
          <a:p>
            <a:pPr lvl="1" algn="just"/>
            <a:r>
              <a:rPr lang="en-US" sz="1600" b="1" dirty="0">
                <a:latin typeface="Times New Roman" panose="02020603050405020304" pitchFamily="18" charset="0"/>
                <a:cs typeface="Times New Roman" panose="02020603050405020304" pitchFamily="18" charset="0"/>
              </a:rPr>
              <a:t>Strengths: </a:t>
            </a:r>
            <a:r>
              <a:rPr lang="en-US" sz="1600" dirty="0">
                <a:latin typeface="Times New Roman" panose="02020603050405020304" pitchFamily="18" charset="0"/>
                <a:cs typeface="Times New Roman" panose="02020603050405020304" pitchFamily="18" charset="0"/>
              </a:rPr>
              <a:t>The study highlights the sensitivity of multimodal Transformers to missing data and offers insights into choosing appropriate fusion strategies for different datasets.</a:t>
            </a:r>
          </a:p>
          <a:p>
            <a:pPr lvl="1" algn="just"/>
            <a:r>
              <a:rPr lang="en-US" sz="1600" b="1" dirty="0">
                <a:latin typeface="Times New Roman" panose="02020603050405020304" pitchFamily="18" charset="0"/>
                <a:cs typeface="Times New Roman" panose="02020603050405020304" pitchFamily="18" charset="0"/>
              </a:rPr>
              <a:t>Weaknesses:</a:t>
            </a:r>
            <a:r>
              <a:rPr lang="en-US" sz="1600" dirty="0">
                <a:latin typeface="Times New Roman" panose="02020603050405020304" pitchFamily="18" charset="0"/>
                <a:cs typeface="Times New Roman" panose="02020603050405020304" pitchFamily="18" charset="0"/>
              </a:rPr>
              <a:t> This approach might require significant computational resources for fusion strategy optimization, making real-time detection challenging for resource-constrained applications.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Relationship to the Proposed Research Work:</a:t>
            </a:r>
          </a:p>
          <a:p>
            <a:pPr lvl="1" algn="just"/>
            <a:r>
              <a:rPr lang="en-US" sz="1600" dirty="0" smtClean="0">
                <a:latin typeface="Times New Roman" panose="02020603050405020304" pitchFamily="18" charset="0"/>
                <a:cs typeface="Times New Roman" panose="02020603050405020304" pitchFamily="18" charset="0"/>
              </a:rPr>
              <a:t>This research is relevant for enhancing the robustness of our detection model, particularly for cases where either text or image information may be partially available or ambiguous. Leveraging insights from this study could improve model resilience in real-world settings where memes vary widely in structure.</a:t>
            </a:r>
          </a:p>
          <a:p>
            <a:pPr lvl="1" algn="just"/>
            <a:endParaRPr 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Literature Review</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26</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4801314"/>
          </a:xfrm>
          <a:prstGeom prst="rect">
            <a:avLst/>
          </a:prstGeom>
        </p:spPr>
        <p:txBody>
          <a:bodyPr wrap="square">
            <a:spAutoFit/>
          </a:bodyPr>
          <a:lstStyle/>
          <a:p>
            <a:r>
              <a:rPr lang="en-US" sz="2000" b="1" dirty="0">
                <a:solidFill>
                  <a:schemeClr val="accent1"/>
                </a:solidFill>
                <a:latin typeface="Times New Roman" panose="02020603050405020304" pitchFamily="18" charset="0"/>
                <a:cs typeface="Times New Roman" panose="02020603050405020304" pitchFamily="18" charset="0"/>
              </a:rPr>
              <a:t>Modality Invariant Multimodal Learning to Handle Missing </a:t>
            </a:r>
            <a:r>
              <a:rPr lang="en-US" sz="2000" b="1" dirty="0" smtClean="0">
                <a:solidFill>
                  <a:schemeClr val="accent1"/>
                </a:solidFill>
                <a:latin typeface="Times New Roman" panose="02020603050405020304" pitchFamily="18" charset="0"/>
                <a:cs typeface="Times New Roman" panose="02020603050405020304" pitchFamily="18" charset="0"/>
              </a:rPr>
              <a:t>Modalities </a:t>
            </a:r>
            <a:r>
              <a:rPr lang="en-US" sz="2000" b="1" dirty="0">
                <a:solidFill>
                  <a:schemeClr val="accent1"/>
                </a:solidFill>
                <a:latin typeface="Times New Roman" panose="02020603050405020304" pitchFamily="18" charset="0"/>
                <a:cs typeface="Times New Roman" panose="02020603050405020304" pitchFamily="18" charset="0"/>
              </a:rPr>
              <a:t>(Saeed et al</a:t>
            </a:r>
            <a:r>
              <a:rPr lang="en-US" sz="2000" b="1" dirty="0" smtClean="0">
                <a:solidFill>
                  <a:schemeClr val="accent1"/>
                </a:solidFill>
                <a:latin typeface="Times New Roman" panose="02020603050405020304" pitchFamily="18" charset="0"/>
                <a:cs typeface="Times New Roman" panose="02020603050405020304" pitchFamily="18" charset="0"/>
              </a:rPr>
              <a:t>., 2024):</a:t>
            </a:r>
          </a:p>
          <a:p>
            <a:r>
              <a:rPr lang="en-US" sz="2800"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Summary </a:t>
            </a:r>
            <a:r>
              <a:rPr lang="en-US" b="1" dirty="0">
                <a:latin typeface="Times New Roman" panose="02020603050405020304" pitchFamily="18" charset="0"/>
                <a:cs typeface="Times New Roman" panose="02020603050405020304" pitchFamily="18" charset="0"/>
              </a:rPr>
              <a:t>of the Research </a:t>
            </a:r>
            <a:r>
              <a:rPr lang="en-US" b="1" dirty="0" smtClean="0">
                <a:latin typeface="Times New Roman" panose="02020603050405020304" pitchFamily="18" charset="0"/>
                <a:cs typeface="Times New Roman" panose="02020603050405020304" pitchFamily="18" charset="0"/>
              </a:rPr>
              <a:t>Item:</a:t>
            </a:r>
            <a:endParaRPr lang="en-US" b="1" dirty="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research proposes a modality-invariant approach to multimodal learning, enhancing robustness against </a:t>
            </a:r>
            <a:r>
              <a:rPr lang="en-US" sz="1600" dirty="0" smtClean="0">
                <a:latin typeface="Times New Roman" panose="02020603050405020304" pitchFamily="18" charset="0"/>
                <a:cs typeface="Times New Roman" panose="02020603050405020304" pitchFamily="18" charset="0"/>
              </a:rPr>
              <a:t>missing </a:t>
            </a:r>
            <a:r>
              <a:rPr lang="en-US" sz="1600" dirty="0">
                <a:latin typeface="Times New Roman" panose="02020603050405020304" pitchFamily="18" charset="0"/>
                <a:cs typeface="Times New Roman" panose="02020603050405020304" pitchFamily="18" charset="0"/>
              </a:rPr>
              <a:t>data. By using a single-branch network with weight-sharing across modalities, the model adapts to </a:t>
            </a:r>
            <a:r>
              <a:rPr lang="en-US" sz="1600" dirty="0" smtClean="0">
                <a:latin typeface="Times New Roman" panose="02020603050405020304" pitchFamily="18" charset="0"/>
                <a:cs typeface="Times New Roman" panose="02020603050405020304" pitchFamily="18" charset="0"/>
              </a:rPr>
              <a:t>  incomplete </a:t>
            </a:r>
            <a:r>
              <a:rPr lang="en-US" sz="1600" dirty="0">
                <a:latin typeface="Times New Roman" panose="02020603050405020304" pitchFamily="18" charset="0"/>
                <a:cs typeface="Times New Roman" panose="02020603050405020304" pitchFamily="18" charset="0"/>
              </a:rPr>
              <a:t>multimodal inputs effectively, achieving high performance even with missing information. </a:t>
            </a:r>
            <a:r>
              <a:rPr lang="en-US" sz="1600" dirty="0" smtClean="0">
                <a:latin typeface="Times New Roman" panose="02020603050405020304" pitchFamily="18" charset="0"/>
                <a:cs typeface="Times New Roman" panose="02020603050405020304" pitchFamily="18" charset="0"/>
              </a:rPr>
              <a:t>  Extensive </a:t>
            </a:r>
            <a:r>
              <a:rPr lang="en-US" sz="1600" dirty="0">
                <a:latin typeface="Times New Roman" panose="02020603050405020304" pitchFamily="18" charset="0"/>
                <a:cs typeface="Times New Roman" panose="02020603050405020304" pitchFamily="18" charset="0"/>
              </a:rPr>
              <a:t>evaluations across datasets like Hateful Memes demonstrate the approach's effectiveness compared to traditional multi-branch fusion models [3</a:t>
            </a:r>
            <a:r>
              <a:rPr lang="en-US" sz="1600" dirty="0" smtClean="0">
                <a:latin typeface="Times New Roman" panose="02020603050405020304" pitchFamily="18" charset="0"/>
                <a:cs typeface="Times New Roman" panose="02020603050405020304" pitchFamily="18" charset="0"/>
              </a:rPr>
              <a:t>].</a:t>
            </a:r>
          </a:p>
          <a:p>
            <a:pPr lvl="1"/>
            <a:endParaRPr lang="en-US" sz="1600"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Critical Analysis (Strengths and Weaknesses):</a:t>
            </a:r>
          </a:p>
          <a:p>
            <a:pPr lvl="1" algn="just"/>
            <a:r>
              <a:rPr lang="en-US" sz="1600" b="1" dirty="0">
                <a:latin typeface="Times New Roman" panose="02020603050405020304" pitchFamily="18" charset="0"/>
                <a:cs typeface="Times New Roman" panose="02020603050405020304" pitchFamily="18" charset="0"/>
              </a:rPr>
              <a:t>Strengths:</a:t>
            </a:r>
            <a:r>
              <a:rPr lang="en-US" sz="1600" dirty="0">
                <a:latin typeface="Times New Roman" panose="02020603050405020304" pitchFamily="18" charset="0"/>
                <a:cs typeface="Times New Roman" panose="02020603050405020304" pitchFamily="18" charset="0"/>
              </a:rPr>
              <a:t> The single-branch network structure significantly improves efficiency by reducing dependency on complete multimodal data, which is ideal for real-world applications with variable data availability. </a:t>
            </a:r>
          </a:p>
          <a:p>
            <a:pPr lvl="1" algn="just"/>
            <a:r>
              <a:rPr lang="en-US" sz="1600" b="1" dirty="0">
                <a:latin typeface="Times New Roman" panose="02020603050405020304" pitchFamily="18" charset="0"/>
                <a:cs typeface="Times New Roman" panose="02020603050405020304" pitchFamily="18" charset="0"/>
              </a:rPr>
              <a:t>Weaknesses:</a:t>
            </a:r>
            <a:r>
              <a:rPr lang="en-US" sz="1600" dirty="0">
                <a:latin typeface="Times New Roman" panose="02020603050405020304" pitchFamily="18" charset="0"/>
                <a:cs typeface="Times New Roman" panose="02020603050405020304" pitchFamily="18" charset="0"/>
              </a:rPr>
              <a:t> The single-branch approach, while robust, might underperform compared to more complex fusion strategies in cases where both modalities are present and highly informative</a:t>
            </a:r>
            <a:r>
              <a:rPr lang="en-US" sz="1600" dirty="0" smtClean="0">
                <a:latin typeface="Times New Roman" panose="02020603050405020304" pitchFamily="18" charset="0"/>
                <a:cs typeface="Times New Roman" panose="02020603050405020304" pitchFamily="18" charset="0"/>
              </a:rPr>
              <a:t>.</a:t>
            </a:r>
          </a:p>
          <a:p>
            <a:pPr lvl="1" algn="just"/>
            <a:endParaRPr lang="en-US" sz="1400"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Relationship to the Proposed Research Work:</a:t>
            </a:r>
          </a:p>
          <a:p>
            <a:pPr lvl="1" algn="just"/>
            <a:r>
              <a:rPr lang="en-US" sz="1600" dirty="0">
                <a:latin typeface="Times New Roman" panose="02020603050405020304" pitchFamily="18" charset="0"/>
                <a:cs typeface="Times New Roman" panose="02020603050405020304" pitchFamily="18" charset="0"/>
              </a:rPr>
              <a:t>The modality-invariant approach aligns well with our project’s goal to create a resilient hate meme detector. Implementing a similar single-branch model could enhance the Chrome extension's ability to filter content seamlessly, even in cases where meme data is incomplete or ambiguous.</a:t>
            </a:r>
          </a:p>
          <a:p>
            <a:pPr lvl="1"/>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3941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Literature Review</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27</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5170646"/>
          </a:xfrm>
          <a:prstGeom prst="rect">
            <a:avLst/>
          </a:prstGeom>
        </p:spPr>
        <p:txBody>
          <a:bodyPr wrap="square">
            <a:spAutoFit/>
          </a:bodyPr>
          <a:lstStyle/>
          <a:p>
            <a:pPr algn="just"/>
            <a:r>
              <a:rPr lang="en-US" sz="2000" b="1" dirty="0">
                <a:solidFill>
                  <a:schemeClr val="accent1"/>
                </a:solidFill>
                <a:latin typeface="Times New Roman" panose="02020603050405020304" pitchFamily="18" charset="0"/>
                <a:cs typeface="Times New Roman" panose="02020603050405020304" pitchFamily="18" charset="0"/>
              </a:rPr>
              <a:t>A Multimodal Dataset for Detecting Hateful Memes </a:t>
            </a:r>
            <a:r>
              <a:rPr lang="en-US" sz="2000" b="1" dirty="0" smtClean="0">
                <a:solidFill>
                  <a:schemeClr val="accent1"/>
                </a:solidFill>
                <a:latin typeface="Times New Roman" panose="02020603050405020304" pitchFamily="18" charset="0"/>
                <a:cs typeface="Times New Roman" panose="02020603050405020304" pitchFamily="18" charset="0"/>
              </a:rPr>
              <a:t>(</a:t>
            </a:r>
            <a:r>
              <a:rPr lang="en-US" sz="2000" b="1" dirty="0">
                <a:solidFill>
                  <a:schemeClr val="accent1"/>
                </a:solidFill>
                <a:latin typeface="Times New Roman" panose="02020603050405020304" pitchFamily="18" charset="0"/>
                <a:cs typeface="Times New Roman" panose="02020603050405020304" pitchFamily="18" charset="0"/>
              </a:rPr>
              <a:t>Hossain et al</a:t>
            </a:r>
            <a:r>
              <a:rPr lang="en-US" sz="2000" b="1" dirty="0" smtClean="0">
                <a:solidFill>
                  <a:schemeClr val="accent1"/>
                </a:solidFill>
                <a:latin typeface="Times New Roman" panose="02020603050405020304" pitchFamily="18" charset="0"/>
                <a:cs typeface="Times New Roman" panose="02020603050405020304" pitchFamily="18" charset="0"/>
              </a:rPr>
              <a:t>., 2022)</a:t>
            </a:r>
            <a:endParaRPr lang="en-US" sz="2000" b="1" dirty="0">
              <a:solidFill>
                <a:schemeClr val="accent1"/>
              </a:solidFill>
              <a:latin typeface="Times New Roman" panose="02020603050405020304" pitchFamily="18" charset="0"/>
              <a:cs typeface="Times New Roman" panose="02020603050405020304" pitchFamily="18" charset="0"/>
            </a:endParaRPr>
          </a:p>
          <a:p>
            <a:pPr lvl="1" algn="just"/>
            <a:r>
              <a:rPr lang="en-US" b="1" dirty="0" smtClean="0">
                <a:latin typeface="Times New Roman" panose="02020603050405020304" pitchFamily="18" charset="0"/>
                <a:cs typeface="Times New Roman" panose="02020603050405020304" pitchFamily="18" charset="0"/>
              </a:rPr>
              <a:t>Summary </a:t>
            </a:r>
            <a:r>
              <a:rPr lang="en-US" b="1" dirty="0">
                <a:latin typeface="Times New Roman" panose="02020603050405020304" pitchFamily="18" charset="0"/>
                <a:cs typeface="Times New Roman" panose="02020603050405020304" pitchFamily="18" charset="0"/>
              </a:rPr>
              <a:t>of the Research </a:t>
            </a:r>
            <a:r>
              <a:rPr lang="en-US" b="1" dirty="0" smtClean="0">
                <a:latin typeface="Times New Roman" panose="02020603050405020304" pitchFamily="18" charset="0"/>
                <a:cs typeface="Times New Roman" panose="02020603050405020304" pitchFamily="18" charset="0"/>
              </a:rPr>
              <a:t>Item:</a:t>
            </a:r>
            <a:endParaRPr lang="en-US" b="1" dirty="0">
              <a:latin typeface="Times New Roman" panose="02020603050405020304" pitchFamily="18" charset="0"/>
              <a:cs typeface="Times New Roman" panose="02020603050405020304" pitchFamily="18" charset="0"/>
            </a:endParaRPr>
          </a:p>
          <a:p>
            <a:pPr lvl="1" algn="just"/>
            <a:r>
              <a:rPr lang="en-US" sz="1600" dirty="0"/>
              <a:t>The MUTE dataset by Hossain et al. targets hateful memes in Bengali and code-mixed languages (English-Bengali), filling a gap in resource-constrained languages. It contains 4,158 annotated memes and uses unimodal (CNN, </a:t>
            </a:r>
            <a:r>
              <a:rPr lang="en-US" sz="1600" dirty="0" err="1"/>
              <a:t>BiLSTM</a:t>
            </a:r>
            <a:r>
              <a:rPr lang="en-US" sz="1600" dirty="0"/>
              <a:t>) and multimodal (transformer-based) methods. Combining text and images improves accuracy by 3% over unimodal models </a:t>
            </a:r>
            <a:r>
              <a:rPr lang="en-US" sz="1600" dirty="0" smtClean="0"/>
              <a:t>.</a:t>
            </a:r>
          </a:p>
          <a:p>
            <a:pPr lvl="1" algn="just"/>
            <a:endParaRPr lang="en-US" sz="16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Critical Analysis:</a:t>
            </a:r>
          </a:p>
          <a:p>
            <a:pPr lvl="1" algn="just"/>
            <a:r>
              <a:rPr lang="en-US" sz="1600" b="1" dirty="0">
                <a:latin typeface="Times New Roman" panose="02020603050405020304" pitchFamily="18" charset="0"/>
                <a:cs typeface="Times New Roman" panose="02020603050405020304" pitchFamily="18" charset="0"/>
              </a:rPr>
              <a:t>Strengths:</a:t>
            </a:r>
            <a:r>
              <a:rPr lang="en-US" sz="1600" dirty="0">
                <a:latin typeface="Times New Roman" panose="02020603050405020304" pitchFamily="18" charset="0"/>
                <a:cs typeface="Times New Roman" panose="02020603050405020304" pitchFamily="18" charset="0"/>
              </a:rPr>
              <a:t> This dataset highlights the importance of multimodal hate speech detection in low-resource languages. It also addresses the unique challenges of code-mixed language content, which is often overlooked in mainstream datasets and models.</a:t>
            </a:r>
          </a:p>
          <a:p>
            <a:pPr lvl="1" algn="just"/>
            <a:r>
              <a:rPr lang="en-US" sz="1600" b="1" dirty="0">
                <a:latin typeface="Times New Roman" panose="02020603050405020304" pitchFamily="18" charset="0"/>
                <a:cs typeface="Times New Roman" panose="02020603050405020304" pitchFamily="18" charset="0"/>
              </a:rPr>
              <a:t>Weaknesses:</a:t>
            </a:r>
            <a:r>
              <a:rPr lang="en-US" sz="1600" dirty="0">
                <a:latin typeface="Times New Roman" panose="02020603050405020304" pitchFamily="18" charset="0"/>
                <a:cs typeface="Times New Roman" panose="02020603050405020304" pitchFamily="18" charset="0"/>
              </a:rPr>
              <a:t> While the dataset and models provide a substantial contribution, their reliance on specific OCR and transformer-based language models limits flexibility across languages. The dataset also remains small relative to datasets in high-resource languages, potentially affecting model generalization.</a:t>
            </a:r>
          </a:p>
          <a:p>
            <a:pPr lvl="1" algn="just"/>
            <a:endParaRPr lang="en-US" sz="14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Relationship to the Proposed Research Work:</a:t>
            </a:r>
          </a:p>
          <a:p>
            <a:pPr lvl="1" algn="just"/>
            <a:r>
              <a:rPr lang="en-US" sz="1600" dirty="0">
                <a:latin typeface="Times New Roman" panose="02020603050405020304" pitchFamily="18" charset="0"/>
                <a:cs typeface="Times New Roman" panose="02020603050405020304" pitchFamily="18" charset="0"/>
              </a:rPr>
              <a:t>This dataset serves as a crucial resource for understanding how multimodal detection can be adapted to diverse languages and contexts. Insights gained from the MUTE dataset can help improve our Chrome extension’s effectiveness in identifying hateful content, especially in multilingual and code-mixed contexts.</a:t>
            </a:r>
          </a:p>
          <a:p>
            <a:pPr lvl="1" algn="just"/>
            <a:endParaRPr lang="en-US" sz="1600"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2056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496640"/>
            <a:ext cx="12192000" cy="4185231"/>
          </a:xfrm>
          <a:prstGeom prst="rect">
            <a:avLst/>
          </a:prstGeom>
        </p:spPr>
      </p:pic>
      <p:sp>
        <p:nvSpPr>
          <p:cNvPr id="2" name="Title 1"/>
          <p:cNvSpPr>
            <a:spLocks noGrp="1"/>
          </p:cNvSpPr>
          <p:nvPr>
            <p:ph type="title"/>
          </p:nvPr>
        </p:nvSpPr>
        <p:spPr>
          <a:xfrm>
            <a:off x="838200" y="365125"/>
            <a:ext cx="8952914" cy="1325563"/>
          </a:xfrm>
        </p:spPr>
        <p:txBody>
          <a:bodyPr/>
          <a:lstStyle/>
          <a:p>
            <a:r>
              <a:rPr lang="en-US" altLang="en-US" sz="3200" b="1" u="sng" dirty="0" smtClean="0">
                <a:solidFill>
                  <a:schemeClr val="accent1"/>
                </a:solidFill>
              </a:rPr>
              <a:t>SBNET Diagram</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28</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422932"/>
            <a:ext cx="12192000" cy="4012135"/>
          </a:xfrm>
          <a:prstGeom prst="rect">
            <a:avLst/>
          </a:prstGeom>
        </p:spPr>
      </p:pic>
      <p:sp>
        <p:nvSpPr>
          <p:cNvPr id="2" name="Title 1"/>
          <p:cNvSpPr>
            <a:spLocks noGrp="1"/>
          </p:cNvSpPr>
          <p:nvPr>
            <p:ph type="title"/>
          </p:nvPr>
        </p:nvSpPr>
        <p:spPr>
          <a:xfrm>
            <a:off x="838200" y="365125"/>
            <a:ext cx="8952914" cy="1325563"/>
          </a:xfrm>
        </p:spPr>
        <p:txBody>
          <a:bodyPr/>
          <a:lstStyle/>
          <a:p>
            <a:r>
              <a:rPr lang="en-US" altLang="en-US" sz="3200" b="1" u="sng" dirty="0">
                <a:solidFill>
                  <a:schemeClr val="accent1"/>
                </a:solidFill>
              </a:rPr>
              <a:t>M</a:t>
            </a:r>
            <a:r>
              <a:rPr lang="en-US" altLang="en-US" sz="3200" b="1" u="sng" dirty="0" smtClean="0">
                <a:solidFill>
                  <a:schemeClr val="accent1"/>
                </a:solidFill>
              </a:rPr>
              <a:t>BNET Diagram</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29</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3836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a:solidFill>
                  <a:schemeClr val="accent1"/>
                </a:solidFill>
              </a:rPr>
              <a:t>Dataset</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30</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1383665"/>
          </a:xfrm>
          <a:prstGeom prst="rect">
            <a:avLst/>
          </a:prstGeom>
        </p:spPr>
        <p:txBody>
          <a:bodyPr wrap="square">
            <a:spAutoFit/>
          </a:bodyPr>
          <a:lstStyle/>
          <a:p>
            <a:pPr lvl="0" indent="0" algn="just">
              <a:buFont typeface="+mj-lt"/>
              <a:buNone/>
            </a:pPr>
            <a:r>
              <a:rPr lang="en-US" altLang="en-US" dirty="0">
                <a:solidFill>
                  <a:schemeClr val="accent1"/>
                </a:solidFill>
                <a:latin typeface="+mj-ea"/>
                <a:cs typeface="+mj-ea"/>
              </a:rPr>
              <a:t>HarmC:</a:t>
            </a:r>
          </a:p>
          <a:p>
            <a:pPr lvl="0" indent="0" algn="just">
              <a:buFont typeface="+mj-lt"/>
              <a:buNone/>
            </a:pPr>
            <a:r>
              <a:rPr lang="en-US" altLang="en-US" sz="1600" dirty="0">
                <a:cs typeface="+mn-lt"/>
              </a:rPr>
              <a:t>A real-world dataset of COVID-19-related hateful memes.</a:t>
            </a:r>
          </a:p>
          <a:p>
            <a:pPr lvl="0" indent="0" algn="just">
              <a:buFont typeface="+mj-lt"/>
              <a:buNone/>
            </a:pPr>
            <a:endParaRPr lang="en-US" altLang="en-US" sz="1600" dirty="0">
              <a:latin typeface="+mn-ea"/>
              <a:cs typeface="+mn-ea"/>
            </a:endParaRPr>
          </a:p>
          <a:p>
            <a:pPr lvl="0" indent="0" algn="just">
              <a:buFont typeface="+mj-lt"/>
              <a:buNone/>
            </a:pPr>
            <a:r>
              <a:rPr lang="en-US" altLang="en-US" dirty="0">
                <a:solidFill>
                  <a:schemeClr val="accent1"/>
                </a:solidFill>
                <a:latin typeface="+mj-ea"/>
                <a:cs typeface="+mj-ea"/>
              </a:rPr>
              <a:t>HarmP:</a:t>
            </a:r>
          </a:p>
          <a:p>
            <a:pPr lvl="0" indent="0" algn="just">
              <a:buFont typeface="+mj-lt"/>
              <a:buNone/>
            </a:pPr>
            <a:r>
              <a:rPr lang="en-US" altLang="en-US" sz="1600" dirty="0">
                <a:cs typeface="+mn-lt"/>
              </a:rPr>
              <a:t>A synthetic dataset focused on U.S. politics-related hateful memes.</a:t>
            </a:r>
            <a:endParaRPr lang="en-US" sz="2400" dirty="0">
              <a:latin typeface="Times New Roman" panose="02020603050405020304" pitchFamily="18" charset="0"/>
              <a:cs typeface="Times New Roman" panose="02020603050405020304" pitchFamily="18" charset="0"/>
            </a:endParaRPr>
          </a:p>
        </p:txBody>
      </p:sp>
      <p:sp>
        <p:nvSpPr>
          <p:cNvPr id="14" name="Text Box 13"/>
          <p:cNvSpPr txBox="1"/>
          <p:nvPr/>
        </p:nvSpPr>
        <p:spPr>
          <a:xfrm>
            <a:off x="838200" y="3157220"/>
            <a:ext cx="4064000" cy="374015"/>
          </a:xfrm>
          <a:prstGeom prst="rect">
            <a:avLst/>
          </a:prstGeom>
          <a:noFill/>
        </p:spPr>
        <p:txBody>
          <a:bodyPr wrap="square" rtlCol="0">
            <a:noAutofit/>
          </a:bodyPr>
          <a:lstStyle/>
          <a:p>
            <a:r>
              <a:rPr lang="en-US">
                <a:solidFill>
                  <a:schemeClr val="accent1"/>
                </a:solidFill>
                <a:latin typeface="+mj-ea"/>
                <a:cs typeface="+mj-ea"/>
              </a:rPr>
              <a:t>Statistics:</a:t>
            </a:r>
          </a:p>
        </p:txBody>
      </p:sp>
      <p:pic>
        <p:nvPicPr>
          <p:cNvPr id="17" name="Picture 16"/>
          <p:cNvPicPr>
            <a:picLocks noChangeAspect="1"/>
          </p:cNvPicPr>
          <p:nvPr/>
        </p:nvPicPr>
        <p:blipFill>
          <a:blip r:embed="rId4"/>
          <a:srcRect t="10156" r="920"/>
          <a:stretch>
            <a:fillRect/>
          </a:stretch>
        </p:blipFill>
        <p:spPr>
          <a:xfrm>
            <a:off x="811530" y="3531235"/>
            <a:ext cx="8276590" cy="237045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a:solidFill>
                  <a:schemeClr val="accent1"/>
                </a:solidFill>
              </a:rPr>
              <a:t>OCR and Text Extraction</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31</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
        <p:nvSpPr>
          <p:cNvPr id="11" name="Text Box 10"/>
          <p:cNvSpPr txBox="1"/>
          <p:nvPr/>
        </p:nvSpPr>
        <p:spPr>
          <a:xfrm>
            <a:off x="928370" y="1532255"/>
            <a:ext cx="8528685" cy="4713605"/>
          </a:xfrm>
          <a:prstGeom prst="rect">
            <a:avLst/>
          </a:prstGeom>
          <a:noFill/>
        </p:spPr>
        <p:txBody>
          <a:bodyPr wrap="square" rtlCol="0">
            <a:noAutofit/>
          </a:bodyPr>
          <a:lstStyle/>
          <a:p>
            <a:r>
              <a:rPr lang="en-US" altLang="en-US">
                <a:solidFill>
                  <a:schemeClr val="accent1"/>
                </a:solidFill>
                <a:latin typeface="+mj-ea"/>
                <a:cs typeface="+mj-ea"/>
              </a:rPr>
              <a:t>OCR Tools Evaluated:</a:t>
            </a:r>
            <a:endParaRPr lang="en-US" altLang="en-US" sz="2000">
              <a:solidFill>
                <a:schemeClr val="accent1"/>
              </a:solidFill>
              <a:latin typeface="+mj-ea"/>
              <a:cs typeface="+mj-ea"/>
            </a:endParaRPr>
          </a:p>
          <a:p>
            <a:r>
              <a:rPr lang="en-US" altLang="en-US" sz="1600"/>
              <a:t>We experimented with several OCR tools to extract text from memes and images:</a:t>
            </a:r>
          </a:p>
          <a:p>
            <a:endParaRPr lang="en-US" altLang="en-US" sz="1600"/>
          </a:p>
          <a:p>
            <a:pPr marL="342900" indent="-342900">
              <a:buAutoNum type="arabicPeriod"/>
            </a:pPr>
            <a:r>
              <a:rPr lang="en-US" altLang="en-US" sz="1600"/>
              <a:t>TesseractOCR</a:t>
            </a:r>
          </a:p>
          <a:p>
            <a:pPr marL="342900" indent="-342900">
              <a:buAutoNum type="arabicPeriod"/>
            </a:pPr>
            <a:r>
              <a:rPr lang="en-US" altLang="en-US" sz="1600"/>
              <a:t>DonutOCR (Microsoft)</a:t>
            </a:r>
          </a:p>
          <a:p>
            <a:pPr marL="342900" indent="-342900">
              <a:buAutoNum type="arabicPeriod"/>
            </a:pPr>
            <a:r>
              <a:rPr lang="en-US" altLang="en-US" sz="1600"/>
              <a:t>EasyOCR</a:t>
            </a:r>
          </a:p>
          <a:p>
            <a:pPr marL="342900" indent="-342900">
              <a:buAutoNum type="arabicPeriod"/>
            </a:pPr>
            <a:r>
              <a:rPr lang="en-US" altLang="en-US" sz="1600"/>
              <a:t>Paddle OCR</a:t>
            </a:r>
          </a:p>
          <a:p>
            <a:pPr marL="342900" indent="-342900">
              <a:buAutoNum type="arabicPeriod"/>
            </a:pPr>
            <a:r>
              <a:rPr lang="en-US" altLang="en-US" sz="1600"/>
              <a:t>Google OCR</a:t>
            </a:r>
          </a:p>
          <a:p>
            <a:pPr indent="0">
              <a:buNone/>
            </a:pPr>
            <a:endParaRPr lang="en-US" altLang="en-US"/>
          </a:p>
          <a:p>
            <a:r>
              <a:rPr lang="en-US" altLang="en-US">
                <a:solidFill>
                  <a:schemeClr val="accent1"/>
                </a:solidFill>
                <a:latin typeface="+mj-ea"/>
                <a:cs typeface="+mj-ea"/>
              </a:rPr>
              <a:t>Best Performing OCR Tool:</a:t>
            </a:r>
          </a:p>
          <a:p>
            <a:pPr marL="285750" indent="-285750">
              <a:buFont typeface="Arial" panose="020B0604020202020204" pitchFamily="34" charset="0"/>
              <a:buChar char="•"/>
            </a:pPr>
            <a:r>
              <a:rPr lang="en-US" altLang="en-US" sz="1600"/>
              <a:t>After comparative testing, Google OCR was selected as the best-performing tool.</a:t>
            </a:r>
          </a:p>
          <a:p>
            <a:pPr marL="285750" indent="-285750">
              <a:buFont typeface="Arial" panose="020B0604020202020204" pitchFamily="34" charset="0"/>
              <a:buChar char="•"/>
            </a:pPr>
            <a:r>
              <a:rPr lang="en-US" altLang="en-US" sz="1600"/>
              <a:t>It consistently delivered high accuracy, even on noisy and complex meme text.</a:t>
            </a:r>
          </a:p>
          <a:p>
            <a:pPr marL="285750" indent="-285750">
              <a:buFont typeface="Arial" panose="020B0604020202020204" pitchFamily="34" charset="0"/>
              <a:buChar char="•"/>
            </a:pPr>
            <a:r>
              <a:rPr lang="en-US" altLang="en-US" sz="1600"/>
              <a:t>An example of the extracted text is provided for reference</a:t>
            </a:r>
            <a:r>
              <a:rPr lang="en-US" altLang="en-US"/>
              <a:t>.</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a:solidFill>
                  <a:schemeClr val="accent1"/>
                </a:solidFill>
              </a:rPr>
              <a:t>Examples</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32</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4"/>
          <a:stretch>
            <a:fillRect/>
          </a:stretch>
        </p:blipFill>
        <p:spPr>
          <a:xfrm>
            <a:off x="4202430" y="1670685"/>
            <a:ext cx="3763010" cy="2197735"/>
          </a:xfrm>
          <a:prstGeom prst="rect">
            <a:avLst/>
          </a:prstGeom>
        </p:spPr>
      </p:pic>
      <p:sp>
        <p:nvSpPr>
          <p:cNvPr id="7" name="Text Box 6"/>
          <p:cNvSpPr txBox="1"/>
          <p:nvPr/>
        </p:nvSpPr>
        <p:spPr>
          <a:xfrm>
            <a:off x="2466340" y="4162425"/>
            <a:ext cx="6638290" cy="2558415"/>
          </a:xfrm>
          <a:prstGeom prst="rect">
            <a:avLst/>
          </a:prstGeom>
          <a:noFill/>
        </p:spPr>
        <p:txBody>
          <a:bodyPr wrap="square" rtlCol="0">
            <a:noAutofit/>
          </a:bodyPr>
          <a:lstStyle/>
          <a:p>
            <a:r>
              <a:rPr lang="en-US" altLang="en-US" b="1" u="sng">
                <a:sym typeface="+mn-ea"/>
              </a:rPr>
              <a:t>TesseractOCR</a:t>
            </a:r>
            <a:r>
              <a:rPr lang="en-US" b="1" u="sng"/>
              <a:t>:</a:t>
            </a:r>
            <a:r>
              <a:rPr lang="en-US" altLang="en-US"/>
              <a:t>H Te</a:t>
            </a:r>
            <a:br>
              <a:rPr lang="en-US" altLang="en-US"/>
            </a:br>
            <a:r>
              <a:rPr lang="en-US" altLang="en-US" b="1" u="sng">
                <a:sym typeface="+mn-ea"/>
              </a:rPr>
              <a:t>DonutOCR</a:t>
            </a:r>
            <a:r>
              <a:rPr lang="en-US" altLang="en-US" b="1" u="sng"/>
              <a:t>:</a:t>
            </a:r>
            <a:r>
              <a:rPr lang="en-US" altLang="en-US"/>
              <a:t>Thqu+</a:t>
            </a:r>
            <a:br>
              <a:rPr lang="en-US" altLang="en-US"/>
            </a:br>
            <a:r>
              <a:rPr lang="en-US" altLang="en-US" b="1" u="sng">
                <a:sym typeface="+mn-ea"/>
              </a:rPr>
              <a:t>EasyOCR</a:t>
            </a:r>
            <a:r>
              <a:rPr lang="en-US" altLang="en-US" b="1" u="sng"/>
              <a:t>:</a:t>
            </a:r>
            <a:r>
              <a:rPr lang="en-US" altLang="en-US"/>
              <a:t>t</a:t>
            </a:r>
            <a:r>
              <a:rPr>
                <a:solidFill>
                  <a:srgbClr val="000000"/>
                </a:solidFill>
                <a:latin typeface="Calibri" panose="020F0502020204030204"/>
                <a:ea typeface="Calibri" panose="020F0502020204030204"/>
                <a:sym typeface="+mn-ea"/>
              </a:rPr>
              <a:t>hawt woul easier guxraian</a:t>
            </a:r>
          </a:p>
          <a:p>
            <a:r>
              <a:rPr lang="en-US" altLang="en-US" b="1" u="sng">
                <a:sym typeface="+mn-ea"/>
              </a:rPr>
              <a:t>Paddle OCR</a:t>
            </a:r>
            <a:r>
              <a:rPr lang="en-US" altLang="en-US" b="1" u="sng"/>
              <a:t>:</a:t>
            </a:r>
            <a:r>
              <a:rPr lang="en-US" altLang="en-US"/>
              <a:t>1thqwt ifwoul4 peeasyer</a:t>
            </a:r>
            <a:br>
              <a:rPr lang="en-US" altLang="en-US"/>
            </a:br>
            <a:r>
              <a:rPr lang="en-US" altLang="en-US" b="1" u="sng">
                <a:sym typeface="+mn-ea"/>
              </a:rPr>
              <a:t>GoogleOCR</a:t>
            </a:r>
            <a:r>
              <a:rPr lang="en-US" altLang="en-US" b="1" u="sng"/>
              <a:t>:</a:t>
            </a:r>
            <a:r>
              <a:rPr lang="en-US" altLang="en-US"/>
              <a:t>i thawt it would Pe easyer The Guardian</a:t>
            </a:r>
          </a:p>
        </p:txBody>
      </p:sp>
      <p:graphicFrame>
        <p:nvGraphicFramePr>
          <p:cNvPr id="12" name="Table 11"/>
          <p:cNvGraphicFramePr/>
          <p:nvPr/>
        </p:nvGraphicFramePr>
        <p:xfrm>
          <a:off x="5787390" y="3089910"/>
          <a:ext cx="617220" cy="182880"/>
        </p:xfrm>
        <a:graphic>
          <a:graphicData uri="http://schemas.openxmlformats.org/drawingml/2006/table">
            <a:tbl>
              <a:tblPr/>
              <a:tblGrid>
                <a:gridCol w="617220">
                  <a:extLst>
                    <a:ext uri="{9D8B030D-6E8A-4147-A177-3AD203B41FA5}">
                      <a16:colId xmlns:a16="http://schemas.microsoft.com/office/drawing/2014/main" val="20000"/>
                    </a:ext>
                  </a:extLst>
                </a:gridCol>
              </a:tblGrid>
              <a:tr h="182880">
                <a:tc>
                  <a:txBody>
                    <a:bodyPr/>
                    <a:lstStyle/>
                    <a:p>
                      <a:pPr algn="l" fontAlgn="b"/>
                      <a:endParaRPr sz="1100" b="0" i="0">
                        <a:solidFill>
                          <a:srgbClr val="000000"/>
                        </a:solidFill>
                        <a:latin typeface="Calibri" panose="020F0502020204030204"/>
                        <a:ea typeface="Calibri" panose="020F0502020204030204"/>
                      </a:endParaRPr>
                    </a:p>
                  </a:txBody>
                  <a:tcPr marL="7937" marR="7937" marT="7937" marB="0" anchor="b">
                    <a:lnL>
                      <a:noFill/>
                    </a:lnL>
                    <a:lnR>
                      <a:noFill/>
                    </a:lnR>
                    <a:lnT>
                      <a:noFill/>
                    </a:lnT>
                    <a:lnB>
                      <a:noFill/>
                    </a:lnB>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a:solidFill>
                  <a:schemeClr val="accent1"/>
                </a:solidFill>
              </a:rPr>
              <a:t>Feature Extraction Approaches</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33</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998855" y="1670050"/>
            <a:ext cx="8791575" cy="3880485"/>
          </a:xfrm>
          <a:prstGeom prst="rect">
            <a:avLst/>
          </a:prstGeom>
          <a:noFill/>
        </p:spPr>
        <p:txBody>
          <a:bodyPr wrap="square" rtlCol="0">
            <a:noAutofit/>
          </a:bodyPr>
          <a:lstStyle/>
          <a:p>
            <a:r>
              <a:rPr lang="en-US" altLang="en-US" sz="1600"/>
              <a:t>We explored multiple pre-trained models for feature extraction from both text and images.</a:t>
            </a:r>
          </a:p>
          <a:p>
            <a:endParaRPr lang="en-US" altLang="en-US" sz="1600"/>
          </a:p>
          <a:p>
            <a:r>
              <a:rPr lang="en-US" altLang="en-US">
                <a:solidFill>
                  <a:schemeClr val="accent1"/>
                </a:solidFill>
                <a:latin typeface="+mj-ea"/>
                <a:cs typeface="+mj-ea"/>
              </a:rPr>
              <a:t>Text Feature Extraction Models Used:</a:t>
            </a:r>
          </a:p>
          <a:p>
            <a:pPr marL="285750" indent="-285750">
              <a:buFont typeface="Arial" panose="020B0604020202020204" pitchFamily="34" charset="0"/>
              <a:buChar char="•"/>
            </a:pPr>
            <a:r>
              <a:rPr lang="en-US" altLang="en-US" sz="1600"/>
              <a:t>SBERT</a:t>
            </a:r>
          </a:p>
          <a:p>
            <a:pPr marL="285750" indent="-285750">
              <a:buFont typeface="Arial" panose="020B0604020202020204" pitchFamily="34" charset="0"/>
              <a:buChar char="•"/>
            </a:pPr>
            <a:r>
              <a:rPr lang="en-US" altLang="en-US" sz="1600"/>
              <a:t>DistilBERT</a:t>
            </a:r>
          </a:p>
          <a:p>
            <a:pPr marL="285750" indent="-285750">
              <a:buFont typeface="Arial" panose="020B0604020202020204" pitchFamily="34" charset="0"/>
              <a:buChar char="•"/>
            </a:pPr>
            <a:r>
              <a:rPr lang="en-US" altLang="en-US" sz="1600"/>
              <a:t>CLIP (Text)</a:t>
            </a:r>
          </a:p>
          <a:p>
            <a:r>
              <a:rPr lang="en-US" altLang="en-US">
                <a:solidFill>
                  <a:schemeClr val="accent1"/>
                </a:solidFill>
                <a:latin typeface="+mj-ea"/>
                <a:cs typeface="+mj-ea"/>
              </a:rPr>
              <a:t>Image Feature Extraction Models Used:</a:t>
            </a:r>
          </a:p>
          <a:p>
            <a:pPr marL="285750" indent="-285750">
              <a:buFont typeface="Arial" panose="020B0604020202020204" pitchFamily="34" charset="0"/>
              <a:buChar char="•"/>
            </a:pPr>
            <a:r>
              <a:rPr lang="en-US" altLang="en-US" sz="1600"/>
              <a:t>VGG19</a:t>
            </a:r>
          </a:p>
          <a:p>
            <a:pPr marL="285750" indent="-285750">
              <a:buFont typeface="Arial" panose="020B0604020202020204" pitchFamily="34" charset="0"/>
              <a:buChar char="•"/>
            </a:pPr>
            <a:r>
              <a:rPr lang="en-US" altLang="en-US" sz="1600"/>
              <a:t>ResNet152</a:t>
            </a:r>
          </a:p>
          <a:p>
            <a:pPr marL="285750" indent="-285750">
              <a:buFont typeface="Arial" panose="020B0604020202020204" pitchFamily="34" charset="0"/>
              <a:buChar char="•"/>
            </a:pPr>
            <a:r>
              <a:rPr lang="en-US" altLang="en-US" sz="1600"/>
              <a:t>CLIP (Image)</a:t>
            </a:r>
          </a:p>
          <a:p>
            <a:r>
              <a:rPr lang="en-US" altLang="en-US">
                <a:solidFill>
                  <a:schemeClr val="accent1"/>
                </a:solidFill>
                <a:latin typeface="+mj-ea"/>
                <a:cs typeface="+mj-ea"/>
              </a:rPr>
              <a:t>Combinations Evaluated:</a:t>
            </a:r>
          </a:p>
          <a:p>
            <a:pPr marL="285750" indent="-285750">
              <a:buFont typeface="Arial" panose="020B0604020202020204" pitchFamily="34" charset="0"/>
              <a:buChar char="•"/>
            </a:pPr>
            <a:r>
              <a:rPr lang="en-US" altLang="en-US">
                <a:sym typeface="+mn-ea"/>
              </a:rPr>
              <a:t>A total of 9 combinations were evaluated for performance, combining each text and image feature extraction model.</a:t>
            </a:r>
            <a:endParaRPr lang="en-US" altLang="en-US"/>
          </a:p>
          <a:p>
            <a:pPr marL="285750" indent="-285750">
              <a:buFont typeface="Arial" panose="020B0604020202020204" pitchFamily="34" charset="0"/>
              <a:buChar char="•"/>
            </a:pPr>
            <a:r>
              <a:rPr lang="en-US" altLang="en-US">
                <a:sym typeface="+mn-ea"/>
              </a:rPr>
              <a:t>Results were compiled to identify the best-performing combination.</a:t>
            </a:r>
            <a:endParaRPr lang="en-US" altLang="en-US"/>
          </a:p>
          <a:p>
            <a:endParaRPr lang="en-US" altLang="en-US">
              <a:solidFill>
                <a:schemeClr val="accent1"/>
              </a:solidFill>
              <a:latin typeface="+mj-ea"/>
              <a:cs typeface="+mj-ea"/>
            </a:endParaRPr>
          </a:p>
          <a:p>
            <a:endParaRPr lang="en-US" altLang="en-US">
              <a:solidFill>
                <a:schemeClr val="accent1"/>
              </a:solidFill>
              <a:latin typeface="+mj-ea"/>
              <a:cs typeface="+mj-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a:solidFill>
                  <a:schemeClr val="accent1"/>
                </a:solidFill>
              </a:rPr>
              <a:t>Model Evaluation and Results</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34</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1097280" y="1670685"/>
            <a:ext cx="8995410" cy="4685030"/>
          </a:xfrm>
          <a:prstGeom prst="rect">
            <a:avLst/>
          </a:prstGeom>
          <a:noFill/>
        </p:spPr>
        <p:txBody>
          <a:bodyPr wrap="square" rtlCol="0">
            <a:noAutofit/>
          </a:bodyPr>
          <a:lstStyle/>
          <a:p>
            <a:r>
              <a:rPr lang="en-US" altLang="en-US" dirty="0">
                <a:solidFill>
                  <a:schemeClr val="accent1"/>
                </a:solidFill>
                <a:latin typeface="+mj-ea"/>
                <a:cs typeface="+mj-ea"/>
              </a:rPr>
              <a:t>Evaluation Process:</a:t>
            </a:r>
            <a:endParaRPr lang="en-US" altLang="en-US" dirty="0"/>
          </a:p>
          <a:p>
            <a:pPr marL="285750" indent="-285750">
              <a:buFont typeface="Arial" panose="020B0604020202020204" pitchFamily="34" charset="0"/>
              <a:buChar char="•"/>
            </a:pPr>
            <a:r>
              <a:rPr lang="en-US" altLang="en-US" sz="1600" dirty="0"/>
              <a:t>Ran the model on all combinations of text and image </a:t>
            </a:r>
            <a:r>
              <a:rPr lang="en-US" altLang="en-US" sz="1600" dirty="0" smtClean="0"/>
              <a:t>features.</a:t>
            </a:r>
          </a:p>
          <a:p>
            <a:pPr marL="285750" indent="-285750">
              <a:buFont typeface="Arial" panose="020B0604020202020204" pitchFamily="34" charset="0"/>
              <a:buChar char="•"/>
            </a:pPr>
            <a:r>
              <a:rPr lang="en-US" altLang="en-US" sz="1600" dirty="0" smtClean="0"/>
              <a:t>Compared </a:t>
            </a:r>
            <a:r>
              <a:rPr lang="en-US" altLang="en-US" sz="1600" dirty="0"/>
              <a:t>performance across both datasets (</a:t>
            </a:r>
            <a:r>
              <a:rPr lang="en-US" altLang="en-US" sz="1600" dirty="0" err="1"/>
              <a:t>HarmC</a:t>
            </a:r>
            <a:r>
              <a:rPr lang="en-US" altLang="en-US" sz="1600" dirty="0"/>
              <a:t> and </a:t>
            </a:r>
            <a:r>
              <a:rPr lang="en-US" altLang="en-US" sz="1600" dirty="0" err="1"/>
              <a:t>HarmP</a:t>
            </a:r>
            <a:r>
              <a:rPr lang="en-US" altLang="en-US" sz="1600" dirty="0"/>
              <a:t>).</a:t>
            </a:r>
          </a:p>
          <a:p>
            <a:pPr marL="285750" indent="-285750">
              <a:buFont typeface="Arial" panose="020B0604020202020204" pitchFamily="34" charset="0"/>
              <a:buChar char="•"/>
            </a:pPr>
            <a:r>
              <a:rPr lang="en-US" altLang="en-US" sz="1600" dirty="0"/>
              <a:t>Selected the best-performing combination based on evaluation metrics.</a:t>
            </a:r>
          </a:p>
          <a:p>
            <a:pPr marL="285750" indent="-285750">
              <a:buFont typeface="Arial" panose="020B0604020202020204" pitchFamily="34" charset="0"/>
              <a:buChar char="•"/>
            </a:pPr>
            <a:endParaRPr lang="en-US" altLang="en-US" sz="1600" dirty="0"/>
          </a:p>
          <a:p>
            <a:r>
              <a:rPr lang="en-US" altLang="en-US" dirty="0">
                <a:solidFill>
                  <a:schemeClr val="accent1"/>
                </a:solidFill>
                <a:latin typeface="+mj-ea"/>
                <a:cs typeface="+mj-ea"/>
              </a:rPr>
              <a:t>Metrics Used for Evaluation:</a:t>
            </a:r>
            <a:endParaRPr lang="en-US" altLang="en-US" dirty="0"/>
          </a:p>
          <a:p>
            <a:pPr marL="285750" indent="-285750">
              <a:buFont typeface="Arial" panose="020B0604020202020204" pitchFamily="34" charset="0"/>
              <a:buChar char="•"/>
            </a:pPr>
            <a:r>
              <a:rPr lang="en-US" altLang="en-US" sz="1600" b="1" dirty="0"/>
              <a:t>Accuracy: </a:t>
            </a:r>
            <a:r>
              <a:rPr lang="en-US" altLang="en-US" sz="1600" dirty="0"/>
              <a:t>Overall correctness of predictions.</a:t>
            </a:r>
          </a:p>
          <a:p>
            <a:pPr marL="285750" indent="-285750">
              <a:buFont typeface="Arial" panose="020B0604020202020204" pitchFamily="34" charset="0"/>
              <a:buChar char="•"/>
            </a:pPr>
            <a:r>
              <a:rPr lang="en-US" altLang="en-US" sz="1600" b="1" dirty="0"/>
              <a:t>Macro-F1 Score: </a:t>
            </a:r>
            <a:r>
              <a:rPr lang="en-US" altLang="en-US" sz="1600" dirty="0"/>
              <a:t>Balance between precision and recall across all classes.</a:t>
            </a:r>
          </a:p>
          <a:p>
            <a:pPr marL="285750" indent="-285750">
              <a:buFont typeface="Arial" panose="020B0604020202020204" pitchFamily="34" charset="0"/>
              <a:buChar char="•"/>
            </a:pPr>
            <a:r>
              <a:rPr lang="en-US" altLang="en-US" sz="1600" b="1" dirty="0"/>
              <a:t>MMAE: </a:t>
            </a:r>
            <a:r>
              <a:rPr lang="en-US" altLang="en-US" sz="1600" dirty="0" smtClean="0"/>
              <a:t>Mean absolute error.</a:t>
            </a:r>
            <a:endParaRPr lang="en-US" altLang="en-US" sz="1600" dirty="0"/>
          </a:p>
          <a:p>
            <a:pPr marL="285750" indent="-285750">
              <a:buFont typeface="Arial" panose="020B0604020202020204" pitchFamily="34" charset="0"/>
              <a:buChar char="•"/>
            </a:pPr>
            <a:r>
              <a:rPr lang="en-US" altLang="en-US" sz="1600" b="1" dirty="0"/>
              <a:t>Precision:</a:t>
            </a:r>
            <a:r>
              <a:rPr lang="en-US" altLang="en-US" sz="1600" dirty="0"/>
              <a:t> Proportion of true positives among predicted positives.</a:t>
            </a:r>
          </a:p>
          <a:p>
            <a:pPr marL="285750" indent="-285750">
              <a:buFont typeface="Arial" panose="020B0604020202020204" pitchFamily="34" charset="0"/>
              <a:buChar char="•"/>
            </a:pPr>
            <a:r>
              <a:rPr lang="en-US" altLang="en-US" sz="1600" b="1" dirty="0"/>
              <a:t>Recall: </a:t>
            </a:r>
            <a:r>
              <a:rPr lang="en-US" altLang="en-US" sz="1600" dirty="0"/>
              <a:t>Proportion of true positives among actual positives.</a:t>
            </a:r>
          </a:p>
          <a:p>
            <a:pPr marL="285750" indent="-285750">
              <a:buFont typeface="Arial" panose="020B0604020202020204" pitchFamily="34" charset="0"/>
              <a:buChar char="•"/>
            </a:pPr>
            <a:r>
              <a:rPr lang="en-US" altLang="en-US" sz="1600" b="1" dirty="0"/>
              <a:t>AUC-ROC:</a:t>
            </a:r>
            <a:r>
              <a:rPr lang="en-US" altLang="en-US" sz="1600" dirty="0"/>
              <a:t> Ability to distinguish between classes.</a:t>
            </a:r>
          </a:p>
          <a:p>
            <a:pPr marL="285750" indent="-285750">
              <a:buFont typeface="Arial" panose="020B0604020202020204" pitchFamily="34" charset="0"/>
              <a:buChar char="•"/>
            </a:pPr>
            <a:endParaRPr lang="en-US" altLang="en-US" sz="1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dirty="0" smtClean="0">
                <a:solidFill>
                  <a:schemeClr val="accent1"/>
                </a:solidFill>
              </a:rPr>
              <a:t>Selection of Feature Models</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35</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2460396" y="1404594"/>
            <a:ext cx="7330718" cy="510932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7820" y="2613111"/>
            <a:ext cx="8952914" cy="1325563"/>
          </a:xfrm>
        </p:spPr>
        <p:txBody>
          <a:bodyPr/>
          <a:lstStyle/>
          <a:p>
            <a:pPr algn="ctr"/>
            <a:r>
              <a:rPr lang="en-US" altLang="en-US" b="1" u="sng" dirty="0" smtClean="0">
                <a:solidFill>
                  <a:schemeClr val="accent1"/>
                </a:solidFill>
              </a:rPr>
              <a:t>Single-Branch Network Results</a:t>
            </a:r>
            <a:endParaRPr lang="en-US" altLang="en-US"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36</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Complete Modality (768-dim, 2-class,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37</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2111605" y="1832146"/>
            <a:ext cx="6498996" cy="232507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Missing Modality (768-dim, 2-class,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38</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2102178" y="1943271"/>
            <a:ext cx="6363092" cy="2383631"/>
          </a:xfrm>
          <a:prstGeom prst="rect">
            <a:avLst/>
          </a:prstGeom>
        </p:spPr>
      </p:pic>
    </p:spTree>
    <p:extLst>
      <p:ext uri="{BB962C8B-B14F-4D97-AF65-F5344CB8AC3E}">
        <p14:creationId xmlns:p14="http://schemas.microsoft.com/office/powerpoint/2010/main" val="14844073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Complete Modality (768-dim, 3-class,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39</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2057696" y="2039100"/>
            <a:ext cx="6513921" cy="2127547"/>
          </a:xfrm>
          <a:prstGeom prst="rect">
            <a:avLst/>
          </a:prstGeom>
        </p:spPr>
      </p:pic>
    </p:spTree>
    <p:extLst>
      <p:ext uri="{BB962C8B-B14F-4D97-AF65-F5344CB8AC3E}">
        <p14:creationId xmlns:p14="http://schemas.microsoft.com/office/powerpoint/2010/main" val="42503114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Missing Modality (768-dim, 3-class,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40</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2611225" y="1943271"/>
            <a:ext cx="6344239" cy="2290549"/>
          </a:xfrm>
          <a:prstGeom prst="rect">
            <a:avLst/>
          </a:prstGeom>
        </p:spPr>
      </p:pic>
    </p:spTree>
    <p:extLst>
      <p:ext uri="{BB962C8B-B14F-4D97-AF65-F5344CB8AC3E}">
        <p14:creationId xmlns:p14="http://schemas.microsoft.com/office/powerpoint/2010/main" val="311880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7820" y="2613111"/>
            <a:ext cx="8952914" cy="1325563"/>
          </a:xfrm>
        </p:spPr>
        <p:txBody>
          <a:bodyPr/>
          <a:lstStyle/>
          <a:p>
            <a:pPr algn="ctr"/>
            <a:r>
              <a:rPr lang="en-US" altLang="en-US" b="1" u="sng" dirty="0" smtClean="0">
                <a:solidFill>
                  <a:schemeClr val="accent1"/>
                </a:solidFill>
              </a:rPr>
              <a:t>Multi-Branch Network Results</a:t>
            </a:r>
            <a:endParaRPr lang="en-US" altLang="en-US"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41</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7092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Complete Modality (768-dim, 2-class,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42</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1720560" y="2176632"/>
            <a:ext cx="7188193" cy="2841451"/>
          </a:xfrm>
          <a:prstGeom prst="rect">
            <a:avLst/>
          </a:prstGeom>
        </p:spPr>
      </p:pic>
    </p:spTree>
    <p:extLst>
      <p:ext uri="{BB962C8B-B14F-4D97-AF65-F5344CB8AC3E}">
        <p14:creationId xmlns:p14="http://schemas.microsoft.com/office/powerpoint/2010/main" val="31314876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Missing Modality (768-dim, 2-class,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43</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1731965" y="2039100"/>
            <a:ext cx="7160927" cy="3482382"/>
          </a:xfrm>
          <a:prstGeom prst="rect">
            <a:avLst/>
          </a:prstGeom>
        </p:spPr>
      </p:pic>
    </p:spTree>
    <p:extLst>
      <p:ext uri="{BB962C8B-B14F-4D97-AF65-F5344CB8AC3E}">
        <p14:creationId xmlns:p14="http://schemas.microsoft.com/office/powerpoint/2010/main" val="13017990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Complete Modality (768-dim, 3-class,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44</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1426903" y="2151642"/>
            <a:ext cx="7775508" cy="3146580"/>
          </a:xfrm>
          <a:prstGeom prst="rect">
            <a:avLst/>
          </a:prstGeom>
        </p:spPr>
      </p:pic>
    </p:spTree>
    <p:extLst>
      <p:ext uri="{BB962C8B-B14F-4D97-AF65-F5344CB8AC3E}">
        <p14:creationId xmlns:p14="http://schemas.microsoft.com/office/powerpoint/2010/main" val="35958830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with Missing Modality (768-dim, 3-class, V1)</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45</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stretch>
            <a:fillRect/>
          </a:stretch>
        </p:blipFill>
        <p:spPr>
          <a:xfrm>
            <a:off x="2029332" y="1803229"/>
            <a:ext cx="7059279" cy="4135657"/>
          </a:xfrm>
          <a:prstGeom prst="rect">
            <a:avLst/>
          </a:prstGeom>
        </p:spPr>
      </p:pic>
    </p:spTree>
    <p:extLst>
      <p:ext uri="{BB962C8B-B14F-4D97-AF65-F5344CB8AC3E}">
        <p14:creationId xmlns:p14="http://schemas.microsoft.com/office/powerpoint/2010/main" val="1561437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7820" y="2613111"/>
            <a:ext cx="8952914" cy="1325563"/>
          </a:xfrm>
        </p:spPr>
        <p:txBody>
          <a:bodyPr/>
          <a:lstStyle/>
          <a:p>
            <a:pPr algn="ctr"/>
            <a:r>
              <a:rPr lang="en-US" altLang="en-US" b="1" u="sng" dirty="0" smtClean="0">
                <a:solidFill>
                  <a:schemeClr val="accent1"/>
                </a:solidFill>
              </a:rPr>
              <a:t>Single-Branch and Multi-Branch Results on Roman-Urdu Memes</a:t>
            </a:r>
            <a:endParaRPr lang="en-US" altLang="en-US"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46</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6769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smtClean="0">
                <a:solidFill>
                  <a:schemeClr val="accent1"/>
                </a:solidFill>
              </a:rPr>
              <a:t>Roman-Urdu Memes Collection and Annotation Process</a:t>
            </a:r>
            <a:endParaRPr lang="en-US" altLang="en-US" sz="2800" b="1" u="sng" dirty="0">
              <a:solidFill>
                <a:schemeClr val="accent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47</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276535709"/>
              </p:ext>
            </p:extLst>
          </p:nvPr>
        </p:nvGraphicFramePr>
        <p:xfrm>
          <a:off x="933713" y="1437875"/>
          <a:ext cx="9568992" cy="5034623"/>
        </p:xfrm>
        <a:graphic>
          <a:graphicData uri="http://schemas.openxmlformats.org/drawingml/2006/table">
            <a:tbl>
              <a:tblPr firstRow="1" bandRow="1">
                <a:tableStyleId>{5C22544A-7EE6-4342-B048-85BDC9FD1C3A}</a:tableStyleId>
              </a:tblPr>
              <a:tblGrid>
                <a:gridCol w="3189664">
                  <a:extLst>
                    <a:ext uri="{9D8B030D-6E8A-4147-A177-3AD203B41FA5}">
                      <a16:colId xmlns:a16="http://schemas.microsoft.com/office/drawing/2014/main" val="549662318"/>
                    </a:ext>
                  </a:extLst>
                </a:gridCol>
                <a:gridCol w="3189664">
                  <a:extLst>
                    <a:ext uri="{9D8B030D-6E8A-4147-A177-3AD203B41FA5}">
                      <a16:colId xmlns:a16="http://schemas.microsoft.com/office/drawing/2014/main" val="3967196359"/>
                    </a:ext>
                  </a:extLst>
                </a:gridCol>
                <a:gridCol w="3189664">
                  <a:extLst>
                    <a:ext uri="{9D8B030D-6E8A-4147-A177-3AD203B41FA5}">
                      <a16:colId xmlns:a16="http://schemas.microsoft.com/office/drawing/2014/main" val="669117396"/>
                    </a:ext>
                  </a:extLst>
                </a:gridCol>
              </a:tblGrid>
              <a:tr h="285583">
                <a:tc>
                  <a:txBody>
                    <a:bodyPr/>
                    <a:lstStyle/>
                    <a:p>
                      <a:r>
                        <a:rPr lang="en-US" sz="1400" b="1"/>
                        <a:t>Stage</a:t>
                      </a:r>
                      <a:endParaRPr lang="en-US" sz="1400"/>
                    </a:p>
                  </a:txBody>
                  <a:tcPr anchor="ctr"/>
                </a:tc>
                <a:tc>
                  <a:txBody>
                    <a:bodyPr/>
                    <a:lstStyle/>
                    <a:p>
                      <a:r>
                        <a:rPr lang="en-US" sz="1400" b="1"/>
                        <a:t>Process</a:t>
                      </a:r>
                      <a:endParaRPr lang="en-US" sz="1400"/>
                    </a:p>
                  </a:txBody>
                  <a:tcPr anchor="ctr"/>
                </a:tc>
                <a:tc>
                  <a:txBody>
                    <a:bodyPr/>
                    <a:lstStyle/>
                    <a:p>
                      <a:r>
                        <a:rPr lang="en-US" sz="1400" b="1"/>
                        <a:t>Details</a:t>
                      </a:r>
                      <a:endParaRPr lang="en-US" sz="1400"/>
                    </a:p>
                  </a:txBody>
                  <a:tcPr anchor="ctr"/>
                </a:tc>
                <a:extLst>
                  <a:ext uri="{0D108BD9-81ED-4DB2-BD59-A6C34878D82A}">
                    <a16:rowId xmlns:a16="http://schemas.microsoft.com/office/drawing/2014/main" val="3186192435"/>
                  </a:ext>
                </a:extLst>
              </a:tr>
              <a:tr h="687495">
                <a:tc>
                  <a:txBody>
                    <a:bodyPr/>
                    <a:lstStyle/>
                    <a:p>
                      <a:r>
                        <a:rPr lang="en-US" sz="1400" b="1"/>
                        <a:t>1. Data Collection</a:t>
                      </a:r>
                      <a:endParaRPr lang="en-US" sz="1400"/>
                    </a:p>
                  </a:txBody>
                  <a:tcPr anchor="ctr"/>
                </a:tc>
                <a:tc>
                  <a:txBody>
                    <a:bodyPr/>
                    <a:lstStyle/>
                    <a:p>
                      <a:r>
                        <a:rPr lang="en-US" sz="1400" dirty="0"/>
                        <a:t>Collect memes from multiple platforms</a:t>
                      </a:r>
                    </a:p>
                  </a:txBody>
                  <a:tcPr anchor="ctr"/>
                </a:tc>
                <a:tc>
                  <a:txBody>
                    <a:bodyPr/>
                    <a:lstStyle/>
                    <a:p>
                      <a:r>
                        <a:rPr lang="en-US" sz="1400"/>
                        <a:t>Facebook, Instagram, Twitter, Pinterest. Total: ~781 memes (342 hateful, 439 non-hateful).</a:t>
                      </a:r>
                    </a:p>
                  </a:txBody>
                  <a:tcPr anchor="ctr"/>
                </a:tc>
                <a:extLst>
                  <a:ext uri="{0D108BD9-81ED-4DB2-BD59-A6C34878D82A}">
                    <a16:rowId xmlns:a16="http://schemas.microsoft.com/office/drawing/2014/main" val="2644983050"/>
                  </a:ext>
                </a:extLst>
              </a:tr>
              <a:tr h="1306240">
                <a:tc>
                  <a:txBody>
                    <a:bodyPr/>
                    <a:lstStyle/>
                    <a:p>
                      <a:r>
                        <a:rPr lang="en-US" sz="1400" b="1"/>
                        <a:t>2. Data Filtering</a:t>
                      </a:r>
                      <a:endParaRPr lang="en-US" sz="1400"/>
                    </a:p>
                  </a:txBody>
                  <a:tcPr anchor="ctr"/>
                </a:tc>
                <a:tc>
                  <a:txBody>
                    <a:bodyPr/>
                    <a:lstStyle/>
                    <a:p>
                      <a:r>
                        <a:rPr lang="en-US" sz="1400"/>
                        <a:t>Remove irrelevant or poor-quality data</a:t>
                      </a:r>
                    </a:p>
                  </a:txBody>
                  <a:tcPr anchor="ctr"/>
                </a:tc>
                <a:tc>
                  <a:txBody>
                    <a:bodyPr/>
                    <a:lstStyle/>
                    <a:p>
                      <a:r>
                        <a:rPr lang="en-US" sz="1400"/>
                        <a:t>- </a:t>
                      </a:r>
                      <a:r>
                        <a:rPr lang="en-US" sz="1400" b="1"/>
                        <a:t>Low resolution/quality</a:t>
                      </a:r>
                      <a:r>
                        <a:rPr lang="en-US" sz="1400"/>
                        <a:t>: Removed manually or during annotation phase. - </a:t>
                      </a:r>
                      <a:r>
                        <a:rPr lang="en-US" sz="1400" b="1"/>
                        <a:t>Duplicates</a:t>
                      </a:r>
                      <a:r>
                        <a:rPr lang="en-US" sz="1400"/>
                        <a:t>: Removed using </a:t>
                      </a:r>
                      <a:r>
                        <a:rPr lang="en-US" sz="1400">
                          <a:hlinkClick r:id="rId3"/>
                        </a:rPr>
                        <a:t>Duplicate Image Finder</a:t>
                      </a:r>
                      <a:r>
                        <a:rPr lang="en-US" sz="1400"/>
                        <a:t>. - </a:t>
                      </a:r>
                      <a:r>
                        <a:rPr lang="en-US" sz="1400" b="1"/>
                        <a:t>Cartoon memes</a:t>
                      </a:r>
                      <a:r>
                        <a:rPr lang="en-US" sz="1400"/>
                        <a:t>: Removed manually.</a:t>
                      </a:r>
                    </a:p>
                  </a:txBody>
                  <a:tcPr anchor="ctr"/>
                </a:tc>
                <a:extLst>
                  <a:ext uri="{0D108BD9-81ED-4DB2-BD59-A6C34878D82A}">
                    <a16:rowId xmlns:a16="http://schemas.microsoft.com/office/drawing/2014/main" val="307325251"/>
                  </a:ext>
                </a:extLst>
              </a:tr>
              <a:tr h="893743">
                <a:tc>
                  <a:txBody>
                    <a:bodyPr/>
                    <a:lstStyle/>
                    <a:p>
                      <a:r>
                        <a:rPr lang="en-US" sz="1400" b="1"/>
                        <a:t>3. Phase-I Annotation</a:t>
                      </a:r>
                      <a:endParaRPr lang="en-US" sz="1400"/>
                    </a:p>
                  </a:txBody>
                  <a:tcPr anchor="ctr"/>
                </a:tc>
                <a:tc>
                  <a:txBody>
                    <a:bodyPr/>
                    <a:lstStyle/>
                    <a:p>
                      <a:r>
                        <a:rPr lang="en-US" sz="1400"/>
                        <a:t>Initial meme labeling by 3 undergraduate annotators independently</a:t>
                      </a:r>
                    </a:p>
                  </a:txBody>
                  <a:tcPr anchor="ctr"/>
                </a:tc>
                <a:tc>
                  <a:txBody>
                    <a:bodyPr/>
                    <a:lstStyle/>
                    <a:p>
                      <a:r>
                        <a:rPr lang="en-US" sz="1400"/>
                        <a:t>Each meme labeled as: - </a:t>
                      </a:r>
                      <a:r>
                        <a:rPr lang="en-US" sz="1400" b="1"/>
                        <a:t>Hateful</a:t>
                      </a:r>
                      <a:r>
                        <a:rPr lang="en-US" sz="1400"/>
                        <a:t> - </a:t>
                      </a:r>
                      <a:r>
                        <a:rPr lang="en-US" sz="1400" b="1"/>
                        <a:t>Non-Hateful</a:t>
                      </a:r>
                      <a:r>
                        <a:rPr lang="en-US" sz="1400"/>
                        <a:t> - </a:t>
                      </a:r>
                      <a:r>
                        <a:rPr lang="en-US" sz="1400" b="1"/>
                        <a:t>Neutral</a:t>
                      </a:r>
                      <a:r>
                        <a:rPr lang="en-US" sz="1400"/>
                        <a:t> Final label decided via majority vote (at least 2/3 agreement).</a:t>
                      </a:r>
                    </a:p>
                  </a:txBody>
                  <a:tcPr anchor="ctr"/>
                </a:tc>
                <a:extLst>
                  <a:ext uri="{0D108BD9-81ED-4DB2-BD59-A6C34878D82A}">
                    <a16:rowId xmlns:a16="http://schemas.microsoft.com/office/drawing/2014/main" val="3103957639"/>
                  </a:ext>
                </a:extLst>
              </a:tr>
              <a:tr h="1512489">
                <a:tc>
                  <a:txBody>
                    <a:bodyPr/>
                    <a:lstStyle/>
                    <a:p>
                      <a:r>
                        <a:rPr lang="en-US" sz="1400" b="1"/>
                        <a:t>4. Annotation Criteria</a:t>
                      </a:r>
                      <a:endParaRPr lang="en-US" sz="1400"/>
                    </a:p>
                  </a:txBody>
                  <a:tcPr anchor="ctr"/>
                </a:tc>
                <a:tc>
                  <a:txBody>
                    <a:bodyPr/>
                    <a:lstStyle/>
                    <a:p>
                      <a:r>
                        <a:rPr lang="en-US" sz="1400"/>
                        <a:t>Defined guidelines for meme classification</a:t>
                      </a:r>
                    </a:p>
                  </a:txBody>
                  <a:tcPr anchor="ctr"/>
                </a:tc>
                <a:tc>
                  <a:txBody>
                    <a:bodyPr/>
                    <a:lstStyle/>
                    <a:p>
                      <a:pPr marL="0" indent="0">
                        <a:buNone/>
                      </a:pPr>
                      <a:r>
                        <a:rPr lang="en-US" sz="1400" dirty="0" smtClean="0"/>
                        <a:t>Sentiment </a:t>
                      </a:r>
                      <a:r>
                        <a:rPr lang="en-US" sz="1400" dirty="0"/>
                        <a:t>label: Hateful / Non-Hateful / Neutral b. </a:t>
                      </a:r>
                      <a:r>
                        <a:rPr lang="en-US" sz="1400" b="1" dirty="0"/>
                        <a:t>Category label</a:t>
                      </a:r>
                      <a:r>
                        <a:rPr lang="en-US" sz="1400" dirty="0"/>
                        <a:t>:  </a:t>
                      </a:r>
                      <a:endParaRPr lang="en-US" sz="1400" dirty="0" smtClean="0"/>
                    </a:p>
                    <a:p>
                      <a:pPr marL="342900" indent="-342900">
                        <a:buAutoNum type="alphaLcPeriod"/>
                      </a:pPr>
                      <a:r>
                        <a:rPr lang="en-US" sz="1400" dirty="0" smtClean="0"/>
                        <a:t>Targeting </a:t>
                      </a:r>
                      <a:r>
                        <a:rPr lang="en-US" sz="1400" dirty="0"/>
                        <a:t>a minority (gender/religion)  </a:t>
                      </a:r>
                      <a:endParaRPr lang="en-US" sz="1400" dirty="0" smtClean="0"/>
                    </a:p>
                    <a:p>
                      <a:pPr marL="342900" indent="-342900">
                        <a:buAutoNum type="alphaLcPeriod"/>
                      </a:pPr>
                      <a:r>
                        <a:rPr lang="en-US" sz="1400" dirty="0" smtClean="0"/>
                        <a:t>Individual </a:t>
                      </a:r>
                      <a:r>
                        <a:rPr lang="en-US" sz="1400" dirty="0"/>
                        <a:t>(public figure)  </a:t>
                      </a:r>
                      <a:endParaRPr lang="en-US" sz="1400" dirty="0" smtClean="0"/>
                    </a:p>
                    <a:p>
                      <a:pPr marL="342900" indent="-342900">
                        <a:buAutoNum type="alphaLcPeriod"/>
                      </a:pPr>
                      <a:r>
                        <a:rPr lang="en-US" sz="1400" dirty="0" smtClean="0"/>
                        <a:t>Organization/Institute </a:t>
                      </a:r>
                      <a:r>
                        <a:rPr lang="en-US" sz="1400" dirty="0"/>
                        <a:t> </a:t>
                      </a:r>
                      <a:endParaRPr lang="en-US" sz="1400" dirty="0" smtClean="0"/>
                    </a:p>
                    <a:p>
                      <a:pPr marL="342900" indent="-342900">
                        <a:buAutoNum type="alphaLcPeriod"/>
                      </a:pPr>
                      <a:r>
                        <a:rPr lang="en-US" sz="1400" dirty="0" smtClean="0"/>
                        <a:t>Sect </a:t>
                      </a:r>
                      <a:r>
                        <a:rPr lang="en-US" sz="1400" dirty="0"/>
                        <a:t>(ethnicity/political)  </a:t>
                      </a:r>
                      <a:endParaRPr lang="en-US" sz="1400" dirty="0" smtClean="0"/>
                    </a:p>
                    <a:p>
                      <a:pPr marL="342900" indent="-342900">
                        <a:buAutoNum type="alphaLcPeriod"/>
                      </a:pPr>
                      <a:r>
                        <a:rPr lang="en-US" sz="1400" dirty="0" smtClean="0"/>
                        <a:t>Other</a:t>
                      </a:r>
                      <a:endParaRPr lang="en-US" sz="1400" dirty="0"/>
                    </a:p>
                  </a:txBody>
                  <a:tcPr anchor="ctr"/>
                </a:tc>
                <a:extLst>
                  <a:ext uri="{0D108BD9-81ED-4DB2-BD59-A6C34878D82A}">
                    <a16:rowId xmlns:a16="http://schemas.microsoft.com/office/drawing/2014/main" val="3206383046"/>
                  </a:ext>
                </a:extLst>
              </a:tr>
            </a:tbl>
          </a:graphicData>
        </a:graphic>
      </p:graphicFrame>
      <p:pic>
        <p:nvPicPr>
          <p:cNvPr id="10" name="Content Placeholder 9"/>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093570" y="331971"/>
            <a:ext cx="1385664" cy="1385664"/>
          </a:xfrm>
        </p:spPr>
      </p:pic>
    </p:spTree>
    <p:extLst>
      <p:ext uri="{BB962C8B-B14F-4D97-AF65-F5344CB8AC3E}">
        <p14:creationId xmlns:p14="http://schemas.microsoft.com/office/powerpoint/2010/main" val="39675014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240" y="362021"/>
            <a:ext cx="8952914" cy="1325563"/>
          </a:xfrm>
        </p:spPr>
        <p:txBody>
          <a:bodyPr>
            <a:normAutofit/>
          </a:bodyPr>
          <a:lstStyle/>
          <a:p>
            <a:r>
              <a:rPr lang="en-US" altLang="en-US" sz="2800" b="1" u="sng" dirty="0" smtClean="0">
                <a:solidFill>
                  <a:schemeClr val="accent1"/>
                </a:solidFill>
              </a:rPr>
              <a:t>Samples from Roman-Urdu Dataset</a:t>
            </a:r>
            <a:endParaRPr lang="en-US" altLang="en-US" sz="2800" b="1" u="sng" dirty="0">
              <a:solidFill>
                <a:schemeClr val="accent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48</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997" y="1892431"/>
            <a:ext cx="3471319" cy="271303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2899" y="2151642"/>
            <a:ext cx="4072944" cy="2128148"/>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19764" y="1892431"/>
            <a:ext cx="3035014" cy="2664875"/>
          </a:xfrm>
          <a:prstGeom prst="rect">
            <a:avLst/>
          </a:prstGeom>
        </p:spPr>
      </p:pic>
      <p:sp>
        <p:nvSpPr>
          <p:cNvPr id="11" name="Title 1"/>
          <p:cNvSpPr txBox="1">
            <a:spLocks/>
          </p:cNvSpPr>
          <p:nvPr/>
        </p:nvSpPr>
        <p:spPr>
          <a:xfrm>
            <a:off x="1743251" y="4893863"/>
            <a:ext cx="895291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2000" b="1" dirty="0" smtClean="0"/>
              <a:t>Hateful Memes</a:t>
            </a:r>
            <a:endParaRPr lang="en-US" altLang="en-US" sz="2000" b="1" dirty="0"/>
          </a:p>
        </p:txBody>
      </p:sp>
    </p:spTree>
    <p:extLst>
      <p:ext uri="{BB962C8B-B14F-4D97-AF65-F5344CB8AC3E}">
        <p14:creationId xmlns:p14="http://schemas.microsoft.com/office/powerpoint/2010/main" val="20966564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240" y="362021"/>
            <a:ext cx="8952914" cy="1325563"/>
          </a:xfrm>
        </p:spPr>
        <p:txBody>
          <a:bodyPr>
            <a:normAutofit/>
          </a:bodyPr>
          <a:lstStyle/>
          <a:p>
            <a:r>
              <a:rPr lang="en-US" altLang="en-US" sz="2800" b="1" u="sng" dirty="0" smtClean="0">
                <a:solidFill>
                  <a:schemeClr val="accent1"/>
                </a:solidFill>
              </a:rPr>
              <a:t>Samples from Roman-Urdu Dataset</a:t>
            </a:r>
            <a:endParaRPr lang="en-US" altLang="en-US" sz="2800" b="1" u="sng" dirty="0">
              <a:solidFill>
                <a:schemeClr val="accent1"/>
              </a:solidFill>
            </a:endParaRPr>
          </a:p>
        </p:txBody>
      </p:sp>
      <p:sp>
        <p:nvSpPr>
          <p:cNvPr id="5" name="Slide Number Placeholder 4"/>
          <p:cNvSpPr>
            <a:spLocks noGrp="1"/>
          </p:cNvSpPr>
          <p:nvPr>
            <p:ph type="sldNum" sz="quarter" idx="12"/>
          </p:nvPr>
        </p:nvSpPr>
        <p:spPr/>
        <p:txBody>
          <a:bodyPr/>
          <a:lstStyle/>
          <a:p>
            <a:fld id="{FCB64944-C185-42A3-B9E2-0C66306C0823}" type="slidenum">
              <a:rPr lang="en-US" smtClean="0"/>
              <a:t>49</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11" name="Title 1"/>
          <p:cNvSpPr txBox="1">
            <a:spLocks/>
          </p:cNvSpPr>
          <p:nvPr/>
        </p:nvSpPr>
        <p:spPr>
          <a:xfrm>
            <a:off x="1743251" y="4875009"/>
            <a:ext cx="895291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2000" b="1" dirty="0" smtClean="0"/>
              <a:t>Non-Hateful Memes</a:t>
            </a:r>
            <a:endParaRPr lang="en-US" altLang="en-US" sz="2000" b="1" dirty="0"/>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824" y="1670566"/>
            <a:ext cx="3468632" cy="3261268"/>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6773" y="1610253"/>
            <a:ext cx="3596927" cy="3381894"/>
          </a:xfrm>
          <a:prstGeom prst="rect">
            <a:avLst/>
          </a:prstGeom>
        </p:spPr>
      </p:pic>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53762" y="1808742"/>
            <a:ext cx="3152081" cy="3152081"/>
          </a:xfrm>
          <a:prstGeom prst="rect">
            <a:avLst/>
          </a:prstGeom>
        </p:spPr>
      </p:pic>
    </p:spTree>
    <p:extLst>
      <p:ext uri="{BB962C8B-B14F-4D97-AF65-F5344CB8AC3E}">
        <p14:creationId xmlns:p14="http://schemas.microsoft.com/office/powerpoint/2010/main" val="20723310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normAutofit/>
          </a:bodyPr>
          <a:lstStyle/>
          <a:p>
            <a:r>
              <a:rPr lang="en-US" altLang="en-US" sz="2800" b="1" u="sng" dirty="0">
                <a:solidFill>
                  <a:schemeClr val="accent1"/>
                </a:solidFill>
              </a:rPr>
              <a:t>Evaluation </a:t>
            </a:r>
            <a:r>
              <a:rPr lang="en-US" altLang="en-US" sz="2800" b="1" u="sng" dirty="0" smtClean="0">
                <a:solidFill>
                  <a:schemeClr val="accent1"/>
                </a:solidFill>
              </a:rPr>
              <a:t>of Models on Roman-Urdu Memes Dataset</a:t>
            </a:r>
            <a:endParaRPr lang="en-US" altLang="en-US" sz="28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50</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1006133" y="1855494"/>
            <a:ext cx="8920291" cy="2080191"/>
          </a:xfrm>
          <a:prstGeom prst="rect">
            <a:avLst/>
          </a:prstGeom>
        </p:spPr>
      </p:pic>
      <p:pic>
        <p:nvPicPr>
          <p:cNvPr id="9" name="Picture 8"/>
          <p:cNvPicPr>
            <a:picLocks noChangeAspect="1"/>
          </p:cNvPicPr>
          <p:nvPr/>
        </p:nvPicPr>
        <p:blipFill>
          <a:blip r:embed="rId5"/>
          <a:stretch>
            <a:fillRect/>
          </a:stretch>
        </p:blipFill>
        <p:spPr>
          <a:xfrm>
            <a:off x="1220731" y="4137091"/>
            <a:ext cx="8187852" cy="1989572"/>
          </a:xfrm>
          <a:prstGeom prst="rect">
            <a:avLst/>
          </a:prstGeom>
        </p:spPr>
      </p:pic>
    </p:spTree>
    <p:extLst>
      <p:ext uri="{BB962C8B-B14F-4D97-AF65-F5344CB8AC3E}">
        <p14:creationId xmlns:p14="http://schemas.microsoft.com/office/powerpoint/2010/main" val="23270912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525" y="-23983"/>
            <a:ext cx="8952914" cy="1325563"/>
          </a:xfrm>
        </p:spPr>
        <p:txBody>
          <a:bodyPr/>
          <a:lstStyle/>
          <a:p>
            <a:r>
              <a:rPr lang="en-US" altLang="en-US" sz="3200" b="1" u="sng" dirty="0" smtClean="0">
                <a:solidFill>
                  <a:schemeClr val="accent1"/>
                </a:solidFill>
              </a:rPr>
              <a:t>SBNET </a:t>
            </a:r>
            <a:r>
              <a:rPr lang="en-US" altLang="en-US" sz="3200" b="1" u="sng" dirty="0">
                <a:solidFill>
                  <a:schemeClr val="accent1"/>
                </a:solidFill>
              </a:rPr>
              <a:t>Working</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51</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368300"/>
          </a:xfrm>
          <a:prstGeom prst="rect">
            <a:avLst/>
          </a:prstGeom>
        </p:spPr>
        <p:txBody>
          <a:bodyPr wrap="square">
            <a:spAutoFit/>
          </a:bodyPr>
          <a:lstStyle/>
          <a:p>
            <a:pPr lvl="0" indent="0" algn="just">
              <a:buFont typeface="+mj-lt"/>
              <a:buNone/>
            </a:pPr>
            <a:r>
              <a:rPr lang="en-US" dirty="0"/>
              <a:t> </a:t>
            </a:r>
            <a:endParaRPr lang="en-US" sz="24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914400" y="1477010"/>
            <a:ext cx="8192135" cy="5380990"/>
          </a:xfrm>
          <a:prstGeom prst="rect">
            <a:avLst/>
          </a:prstGeom>
          <a:noFill/>
        </p:spPr>
        <p:txBody>
          <a:bodyPr wrap="square" rtlCol="0">
            <a:noAutofit/>
          </a:bodyPr>
          <a:lstStyle/>
          <a:p>
            <a:endParaRPr lang="en-US" altLang="en-US" sz="1600" dirty="0"/>
          </a:p>
        </p:txBody>
      </p:sp>
      <p:sp>
        <p:nvSpPr>
          <p:cNvPr id="9" name="Rectangle 2"/>
          <p:cNvSpPr>
            <a:spLocks noChangeArrowheads="1"/>
          </p:cNvSpPr>
          <p:nvPr/>
        </p:nvSpPr>
        <p:spPr bwMode="auto">
          <a:xfrm>
            <a:off x="592393" y="749112"/>
            <a:ext cx="11040283"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smtClean="0">
                <a:ln>
                  <a:noFill/>
                </a:ln>
                <a:solidFill>
                  <a:schemeClr val="tx1"/>
                </a:solidFill>
                <a:effectLst/>
                <a:latin typeface="Arial" panose="020B0604020202020204" pitchFamily="34" charset="0"/>
              </a:rPr>
              <a:t>Input Processing</a:t>
            </a:r>
          </a:p>
          <a:p>
            <a:pPr marR="0" lvl="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Features</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Text</a:t>
            </a:r>
            <a:r>
              <a:rPr kumimoji="0" lang="en-US" altLang="en-US" sz="1200" b="0" i="0" u="none" strike="noStrike" cap="none" normalizeH="0" baseline="0" dirty="0" smtClean="0">
                <a:ln>
                  <a:noFill/>
                </a:ln>
                <a:solidFill>
                  <a:schemeClr val="tx1"/>
                </a:solidFill>
                <a:effectLst/>
                <a:latin typeface="Arial" panose="020B0604020202020204" pitchFamily="34" charset="0"/>
              </a:rPr>
              <a:t>: SBERT or CLIP text embedding's (both typically 768-dimensional).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Image</a:t>
            </a:r>
            <a:r>
              <a:rPr kumimoji="0" lang="en-US" altLang="en-US" sz="1200" b="0" i="0" u="none" strike="noStrike" cap="none" normalizeH="0" baseline="0" dirty="0" smtClean="0">
                <a:ln>
                  <a:noFill/>
                </a:ln>
                <a:solidFill>
                  <a:schemeClr val="tx1"/>
                </a:solidFill>
                <a:effectLst/>
                <a:latin typeface="Arial" panose="020B0604020202020204" pitchFamily="34" charset="0"/>
              </a:rPr>
              <a:t>: CLIP (768-dimensional).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Modes</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Image-only</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Text-only</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Multimodal (both)</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When both modalities are available, their feature vectors are concatenated (e.g., 768 + 768 → 1536) before feeding into the model.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2. Embedding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Implemented via an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EmbedBranch</a:t>
            </a:r>
            <a:r>
              <a:rPr kumimoji="0" lang="en-US" altLang="en-US" sz="1200" b="0" i="0" u="none" strike="noStrike" cap="none" normalizeH="0" baseline="0" dirty="0" smtClean="0">
                <a:ln>
                  <a:noFill/>
                </a:ln>
                <a:solidFill>
                  <a:schemeClr val="tx1"/>
                </a:solidFill>
                <a:effectLst/>
              </a:rPr>
              <a:t> consisting of two fully connected layers: </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feat_dim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1200" b="0" i="0" u="none" strike="noStrike" cap="none" normalizeH="0" baseline="0" dirty="0" smtClean="0">
                <a:ln>
                  <a:noFill/>
                </a:ln>
                <a:solidFill>
                  <a:schemeClr val="tx1"/>
                </a:solidFill>
                <a:effectLst/>
              </a:rPr>
              <a:t>, followed by BatchNorm1d, </a:t>
            </a:r>
            <a:r>
              <a:rPr kumimoji="0" lang="en-US" altLang="en-US" sz="1200" b="0" i="0" u="none" strike="noStrike" cap="none" normalizeH="0" baseline="0" dirty="0" err="1" smtClean="0">
                <a:ln>
                  <a:noFill/>
                </a:ln>
                <a:solidFill>
                  <a:schemeClr val="tx1"/>
                </a:solidFill>
                <a:effectLst/>
              </a:rPr>
              <a:t>ReLU</a:t>
            </a:r>
            <a:r>
              <a:rPr kumimoji="0" lang="en-US" altLang="en-US" sz="1200" b="0" i="0" u="none" strike="noStrike" cap="none" normalizeH="0" baseline="0" dirty="0" smtClean="0">
                <a:ln>
                  <a:noFill/>
                </a:ln>
                <a:solidFill>
                  <a:schemeClr val="tx1"/>
                </a:solidFill>
                <a:effectLst/>
              </a:rPr>
              <a:t>, and Dropout (p=0.5).</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smtClean="0">
                <a:ln>
                  <a:noFill/>
                </a:ln>
                <a:solidFill>
                  <a:schemeClr val="tx1"/>
                </a:solidFill>
                <a:effectLst/>
                <a:latin typeface="Arial" panose="020B0604020202020204" pitchFamily="34" charset="0"/>
              </a:rPr>
              <a:t>Another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1200" b="0" i="0" u="none" strike="noStrike" cap="none" normalizeH="0" baseline="0" dirty="0" smtClean="0">
                <a:ln>
                  <a:noFill/>
                </a:ln>
                <a:solidFill>
                  <a:schemeClr val="tx1"/>
                </a:solidFill>
                <a:effectLst/>
              </a:rPr>
              <a:t>, BatchNorm1d, </a:t>
            </a:r>
            <a:r>
              <a:rPr kumimoji="0" lang="en-US" altLang="en-US" sz="1200" b="0" i="0" u="none" strike="noStrike" cap="none" normalizeH="0" baseline="0" dirty="0" err="1" smtClean="0">
                <a:ln>
                  <a:noFill/>
                </a:ln>
                <a:solidFill>
                  <a:schemeClr val="tx1"/>
                </a:solidFill>
                <a:effectLst/>
              </a:rPr>
              <a:t>ReLU</a:t>
            </a:r>
            <a:r>
              <a:rPr kumimoji="0" lang="en-US" altLang="en-US" sz="1200" b="0" i="0" u="none" strike="noStrike" cap="none" normalizeH="0" baseline="0" dirty="0" smtClean="0">
                <a:ln>
                  <a:noFill/>
                </a:ln>
                <a:solidFill>
                  <a:schemeClr val="tx1"/>
                </a:solidFill>
                <a:effectLst/>
              </a:rPr>
              <a:t>, and Dropout.</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The output is L2-normalized to produce a compact embedding vector.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3. Fusion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Concatenation Fusion</a:t>
            </a:r>
            <a:r>
              <a:rPr kumimoji="0" lang="en-US" altLang="en-US" sz="1200" b="0" i="0" u="none" strike="noStrike" cap="none" normalizeH="0" baseline="0" dirty="0" smtClean="0">
                <a:ln>
                  <a:noFill/>
                </a:ln>
                <a:solidFill>
                  <a:schemeClr val="tx1"/>
                </a:solidFill>
                <a:effectLst/>
                <a:latin typeface="Arial" panose="020B0604020202020204" pitchFamily="34" charset="0"/>
              </a:rPr>
              <a:t>: If both text and image features are present, they are simply concatenated.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4.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A final linear layer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n_classes</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1200" b="0" i="0" u="none" strike="noStrike" cap="none" normalizeH="0" baseline="0" dirty="0" smtClean="0">
                <a:ln>
                  <a:noFill/>
                </a:ln>
                <a:solidFill>
                  <a:schemeClr val="tx1"/>
                </a:solidFill>
                <a:effectLst/>
              </a:rPr>
              <a:t>) outputs logits for either: </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2-class</a:t>
            </a:r>
            <a:r>
              <a:rPr kumimoji="0" lang="en-US" altLang="en-US" sz="1200" b="0" i="0" u="none" strike="noStrike" cap="none" normalizeH="0" baseline="0" dirty="0" smtClean="0">
                <a:ln>
                  <a:noFill/>
                </a:ln>
                <a:solidFill>
                  <a:schemeClr val="tx1"/>
                </a:solidFill>
                <a:effectLst/>
                <a:latin typeface="Arial" panose="020B0604020202020204" pitchFamily="34" charset="0"/>
              </a:rPr>
              <a:t> (Hateful vs. Non-Hateful) or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3-class</a:t>
            </a:r>
            <a:r>
              <a:rPr kumimoji="0" lang="en-US" altLang="en-US" sz="1200" b="0" i="0" u="none" strike="noStrike" cap="none" normalizeH="0" baseline="0" dirty="0" smtClean="0">
                <a:ln>
                  <a:noFill/>
                </a:ln>
                <a:solidFill>
                  <a:schemeClr val="tx1"/>
                </a:solidFill>
                <a:effectLst/>
                <a:latin typeface="Arial" panose="020B0604020202020204" pitchFamily="34" charset="0"/>
              </a:rPr>
              <a:t> (Not Hateful, Somewhat Hateful, Hateful)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Trained with a cross-entropy loss. Early stopping is used based on validation loss to prevent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525" y="-23983"/>
            <a:ext cx="8952914" cy="1325563"/>
          </a:xfrm>
        </p:spPr>
        <p:txBody>
          <a:bodyPr/>
          <a:lstStyle/>
          <a:p>
            <a:r>
              <a:rPr lang="en-US" altLang="en-US" sz="3200" b="1" u="sng" dirty="0" smtClean="0">
                <a:solidFill>
                  <a:schemeClr val="accent1"/>
                </a:solidFill>
              </a:rPr>
              <a:t>MBNET Working</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52</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5"/>
          <p:cNvSpPr>
            <a:spLocks noChangeArrowheads="1"/>
          </p:cNvSpPr>
          <p:nvPr/>
        </p:nvSpPr>
        <p:spPr bwMode="auto">
          <a:xfrm>
            <a:off x="862895" y="1040677"/>
            <a:ext cx="10373856" cy="2551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1. Input Processing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Features:</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Text</a:t>
            </a:r>
            <a:r>
              <a:rPr kumimoji="0" lang="en-US" altLang="en-US" sz="1200" b="0" i="0" u="none" strike="noStrike" cap="none" normalizeH="0" baseline="0" dirty="0" smtClean="0">
                <a:ln>
                  <a:noFill/>
                </a:ln>
                <a:solidFill>
                  <a:schemeClr val="tx1"/>
                </a:solidFill>
                <a:effectLst/>
                <a:latin typeface="Arial" panose="020B0604020202020204" pitchFamily="34" charset="0"/>
              </a:rPr>
              <a:t>: CLIP Text </a:t>
            </a:r>
            <a:r>
              <a:rPr kumimoji="0" lang="en-US" altLang="en-US" sz="12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200" b="0" i="0" u="none" strike="noStrike" cap="none" normalizeH="0" baseline="0" dirty="0" smtClean="0">
                <a:ln>
                  <a:noFill/>
                </a:ln>
                <a:solidFill>
                  <a:schemeClr val="tx1"/>
                </a:solidFill>
                <a:effectLst/>
                <a:latin typeface="Arial" panose="020B0604020202020204" pitchFamily="34" charset="0"/>
              </a:rPr>
              <a:t> or SBERT (typically 768-dimensional).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Image</a:t>
            </a:r>
            <a:r>
              <a:rPr kumimoji="0" lang="en-US" altLang="en-US" sz="1200" b="0" i="0" u="none" strike="noStrike" cap="none" normalizeH="0" baseline="0" dirty="0" smtClean="0">
                <a:ln>
                  <a:noFill/>
                </a:ln>
                <a:solidFill>
                  <a:schemeClr val="tx1"/>
                </a:solidFill>
                <a:effectLst/>
                <a:latin typeface="Arial" panose="020B0604020202020204" pitchFamily="34" charset="0"/>
              </a:rPr>
              <a:t>: CLIP-</a:t>
            </a:r>
            <a:r>
              <a:rPr kumimoji="0" lang="en-US" altLang="en-US" sz="1200" b="0" i="0" u="none" strike="noStrike" cap="none" normalizeH="0" baseline="0" dirty="0" err="1" smtClean="0">
                <a:ln>
                  <a:noFill/>
                </a:ln>
                <a:solidFill>
                  <a:schemeClr val="tx1"/>
                </a:solidFill>
                <a:effectLst/>
                <a:latin typeface="Arial" panose="020B0604020202020204" pitchFamily="34" charset="0"/>
              </a:rPr>
              <a:t>ViT</a:t>
            </a:r>
            <a:r>
              <a:rPr kumimoji="0" lang="en-US" altLang="en-US" sz="1200" b="0" i="0" u="none" strike="noStrike" cap="none" normalizeH="0" baseline="0" dirty="0" smtClean="0">
                <a:ln>
                  <a:noFill/>
                </a:ln>
                <a:solidFill>
                  <a:schemeClr val="tx1"/>
                </a:solidFill>
                <a:effectLst/>
                <a:latin typeface="Arial" panose="020B0604020202020204" pitchFamily="34" charset="0"/>
              </a:rPr>
              <a:t> Image </a:t>
            </a:r>
            <a:r>
              <a:rPr kumimoji="0" lang="en-US" altLang="en-US" sz="12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200" b="0" i="0" u="none" strike="noStrike" cap="none" normalizeH="0" baseline="0" dirty="0" smtClean="0">
                <a:ln>
                  <a:noFill/>
                </a:ln>
                <a:solidFill>
                  <a:schemeClr val="tx1"/>
                </a:solidFill>
                <a:effectLst/>
                <a:latin typeface="Arial" panose="020B0604020202020204" pitchFamily="34" charset="0"/>
              </a:rPr>
              <a:t> (768-dimensional).</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Modes:</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Image-only</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Text-only</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Multimodal (both)</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anose="020B0604020202020204" pitchFamily="34" charset="0"/>
              </a:rPr>
              <a:t>When both modalities are available, their feature vectors are </a:t>
            </a:r>
            <a:r>
              <a:rPr kumimoji="0" lang="en-US" altLang="en-US" sz="1200" b="1" i="0" u="none" strike="noStrike" cap="none" normalizeH="0" baseline="0" dirty="0" smtClean="0">
                <a:ln>
                  <a:noFill/>
                </a:ln>
                <a:solidFill>
                  <a:schemeClr val="tx1"/>
                </a:solidFill>
                <a:effectLst/>
                <a:latin typeface="Arial" panose="020B0604020202020204" pitchFamily="34" charset="0"/>
              </a:rPr>
              <a:t>fed separately</a:t>
            </a:r>
            <a:r>
              <a:rPr kumimoji="0" lang="en-US" altLang="en-US" sz="1200" b="0" i="0" u="none" strike="noStrike" cap="none" normalizeH="0" baseline="0" dirty="0" smtClean="0">
                <a:ln>
                  <a:noFill/>
                </a:ln>
                <a:solidFill>
                  <a:schemeClr val="tx1"/>
                </a:solidFill>
                <a:effectLst/>
                <a:latin typeface="Arial" panose="020B0604020202020204" pitchFamily="34" charset="0"/>
              </a:rPr>
              <a:t> into modality-specific branches and later </a:t>
            </a:r>
            <a:r>
              <a:rPr kumimoji="0" lang="en-US" altLang="en-US" sz="1200" b="1" i="0" u="none" strike="noStrike" cap="none" normalizeH="0" baseline="0" dirty="0" smtClean="0">
                <a:ln>
                  <a:noFill/>
                </a:ln>
                <a:solidFill>
                  <a:schemeClr val="tx1"/>
                </a:solidFill>
                <a:effectLst/>
                <a:latin typeface="Arial" panose="020B0604020202020204" pitchFamily="34" charset="0"/>
              </a:rPr>
              <a:t>fused</a:t>
            </a:r>
            <a:r>
              <a:rPr kumimoji="0" lang="en-US" altLang="en-US" sz="1200" b="0" i="0" u="none" strike="noStrike" cap="none" normalizeH="0" baseline="0" dirty="0" smtClean="0">
                <a:ln>
                  <a:noFill/>
                </a:ln>
                <a:solidFill>
                  <a:schemeClr val="tx1"/>
                </a:solidFill>
                <a:effectLst/>
                <a:latin typeface="Arial" panose="020B0604020202020204" pitchFamily="34" charset="0"/>
              </a:rPr>
              <a:t>.</a:t>
            </a:r>
          </a:p>
        </p:txBody>
      </p:sp>
      <p:sp>
        <p:nvSpPr>
          <p:cNvPr id="26" name="Rectangle 17"/>
          <p:cNvSpPr>
            <a:spLocks noChangeArrowheads="1"/>
          </p:cNvSpPr>
          <p:nvPr/>
        </p:nvSpPr>
        <p:spPr bwMode="auto">
          <a:xfrm>
            <a:off x="862895" y="3265928"/>
            <a:ext cx="967627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2. Embedding Generation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anose="020B0604020202020204" pitchFamily="34" charset="0"/>
              </a:rPr>
              <a:t>Implemented via a </a:t>
            </a:r>
            <a:r>
              <a:rPr kumimoji="0" lang="en-US" altLang="en-US" sz="1200" b="1" i="0" u="none" strike="noStrike" cap="none" normalizeH="0" baseline="0" dirty="0" smtClean="0">
                <a:ln>
                  <a:noFill/>
                </a:ln>
                <a:solidFill>
                  <a:schemeClr val="tx1"/>
                </a:solidFill>
                <a:effectLst/>
                <a:latin typeface="Arial" panose="020B0604020202020204" pitchFamily="34" charset="0"/>
              </a:rPr>
              <a:t>modality-specific </a:t>
            </a:r>
            <a:r>
              <a:rPr kumimoji="0" lang="en-US" altLang="en-US" sz="1200" b="1" i="0" u="none" strike="noStrike" cap="none" normalizeH="0" baseline="0" dirty="0" err="1" smtClean="0">
                <a:ln>
                  <a:noFill/>
                </a:ln>
                <a:solidFill>
                  <a:schemeClr val="tx1"/>
                </a:solidFill>
                <a:effectLst/>
                <a:latin typeface="Arial" panose="020B0604020202020204" pitchFamily="34" charset="0"/>
              </a:rPr>
              <a:t>EmbedBranch</a:t>
            </a:r>
            <a:r>
              <a:rPr kumimoji="0" lang="en-US" altLang="en-US" sz="1200" b="0" i="0" u="none" strike="noStrike" cap="none" normalizeH="0" baseline="0" dirty="0" smtClean="0">
                <a:ln>
                  <a:noFill/>
                </a:ln>
                <a:solidFill>
                  <a:schemeClr val="tx1"/>
                </a:solidFill>
                <a:effectLst/>
                <a:latin typeface="Arial" panose="020B0604020202020204" pitchFamily="34" charset="0"/>
              </a:rPr>
              <a:t>, consisting of two fully connected layers: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feat_dim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BatchNorm1d</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ReLU</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Dropout (p=0.5)</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BatchNorm1d</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ReLU</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Dropout (p=0.5)</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anose="020B0604020202020204" pitchFamily="34" charset="0"/>
              </a:rPr>
              <a:t>The final output is </a:t>
            </a:r>
            <a:r>
              <a:rPr kumimoji="0" lang="en-US" altLang="en-US" sz="1200" b="1" i="0" u="none" strike="noStrike" cap="none" normalizeH="0" baseline="0" dirty="0" smtClean="0">
                <a:ln>
                  <a:noFill/>
                </a:ln>
                <a:solidFill>
                  <a:schemeClr val="tx1"/>
                </a:solidFill>
                <a:effectLst/>
                <a:latin typeface="Arial" panose="020B0604020202020204" pitchFamily="34" charset="0"/>
              </a:rPr>
              <a:t>L2-normalized</a:t>
            </a:r>
            <a:r>
              <a:rPr kumimoji="0" lang="en-US" altLang="en-US" sz="1200" b="0" i="0" u="none" strike="noStrike" cap="none" normalizeH="0" baseline="0" dirty="0" smtClean="0">
                <a:ln>
                  <a:noFill/>
                </a:ln>
                <a:solidFill>
                  <a:schemeClr val="tx1"/>
                </a:solidFill>
                <a:effectLst/>
                <a:latin typeface="Arial" panose="020B0604020202020204" pitchFamily="34" charset="0"/>
              </a:rPr>
              <a:t>, producing a unit-length embedding vector.</a:t>
            </a:r>
          </a:p>
        </p:txBody>
      </p:sp>
    </p:spTree>
    <p:extLst>
      <p:ext uri="{BB962C8B-B14F-4D97-AF65-F5344CB8AC3E}">
        <p14:creationId xmlns:p14="http://schemas.microsoft.com/office/powerpoint/2010/main" val="41317672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525" y="-23983"/>
            <a:ext cx="8952914" cy="1325563"/>
          </a:xfrm>
        </p:spPr>
        <p:txBody>
          <a:bodyPr/>
          <a:lstStyle/>
          <a:p>
            <a:r>
              <a:rPr lang="en-US" altLang="en-US" sz="3200" b="1" u="sng" dirty="0" smtClean="0">
                <a:solidFill>
                  <a:schemeClr val="accent1"/>
                </a:solidFill>
              </a:rPr>
              <a:t>MBNET </a:t>
            </a:r>
            <a:r>
              <a:rPr lang="en-US" altLang="en-US" sz="3200" b="1" u="sng" dirty="0">
                <a:solidFill>
                  <a:schemeClr val="accent1"/>
                </a:solidFill>
              </a:rPr>
              <a:t>Working</a:t>
            </a: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53</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19"/>
          <p:cNvSpPr>
            <a:spLocks noChangeArrowheads="1"/>
          </p:cNvSpPr>
          <p:nvPr/>
        </p:nvSpPr>
        <p:spPr bwMode="auto">
          <a:xfrm>
            <a:off x="866525" y="703337"/>
            <a:ext cx="9465252" cy="3105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3. Fusion (Multimodal Mode Only)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anose="020B0604020202020204" pitchFamily="34" charset="0"/>
              </a:rPr>
              <a:t>If both image and text </a:t>
            </a:r>
            <a:r>
              <a:rPr kumimoji="0" lang="en-US" altLang="en-US" sz="12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200" b="0" i="0" u="none" strike="noStrike" cap="none" normalizeH="0" baseline="0" dirty="0" smtClean="0">
                <a:ln>
                  <a:noFill/>
                </a:ln>
                <a:solidFill>
                  <a:schemeClr val="tx1"/>
                </a:solidFill>
                <a:effectLst/>
                <a:latin typeface="Arial" panose="020B0604020202020204" pitchFamily="34" charset="0"/>
              </a:rPr>
              <a:t> are present, fusion is applied via one of two methods: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Gated Fusion:</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A gating layer learns sample-wise importance weights.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Gate vector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z = sigmoid(W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concat</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img_embed</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text_embed</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b)</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Final fused vector: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z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img_embed</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(1 - z)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text_embed</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Linear Fusion (α-weighted):</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A scalar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α ∈ [0, 1]</a:t>
            </a:r>
            <a:r>
              <a:rPr kumimoji="0" lang="en-US" altLang="en-US" sz="1200" b="0" i="0" u="none" strike="noStrike" cap="none" normalizeH="0" baseline="0" dirty="0" smtClean="0">
                <a:ln>
                  <a:noFill/>
                </a:ln>
                <a:solidFill>
                  <a:schemeClr val="tx1"/>
                </a:solidFill>
                <a:effectLst/>
              </a:rPr>
              <a:t> is learned during training.</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panose="020B0604020202020204" pitchFamily="34" charset="0"/>
              </a:rPr>
              <a:t>Final fused vector: </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α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img_embed</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(1 - α)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text_embed</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p:txBody>
      </p:sp>
      <p:sp>
        <p:nvSpPr>
          <p:cNvPr id="30" name="Rectangle 21"/>
          <p:cNvSpPr>
            <a:spLocks noChangeArrowheads="1"/>
          </p:cNvSpPr>
          <p:nvPr/>
        </p:nvSpPr>
        <p:spPr bwMode="auto">
          <a:xfrm>
            <a:off x="866525" y="3655359"/>
            <a:ext cx="10612709" cy="3105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4. Classification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anose="020B0604020202020204" pitchFamily="34" charset="0"/>
              </a:rPr>
              <a:t>The resulting embedding (from image, text, or fused) is passed to a linear classifier: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Linear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embedding_dim</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 → </a:t>
            </a:r>
            <a:r>
              <a:rPr kumimoji="0" lang="en-US" altLang="en-US" sz="1200" b="0" i="0" u="none" strike="noStrike" cap="none" normalizeH="0" baseline="0" dirty="0" err="1" smtClean="0">
                <a:ln>
                  <a:noFill/>
                </a:ln>
                <a:solidFill>
                  <a:schemeClr val="tx1"/>
                </a:solidFill>
                <a:effectLst/>
                <a:latin typeface="Arial Unicode MS" panose="020B0604020202020204" pitchFamily="34" charset="-128"/>
              </a:rPr>
              <a:t>n_classes</a:t>
            </a:r>
            <a:r>
              <a:rPr kumimoji="0" lang="en-US" altLang="en-US" sz="1200" b="0" i="0" u="none" strike="noStrike" cap="none" normalizeH="0" baseline="0" dirty="0" smtClean="0">
                <a:ln>
                  <a:noFill/>
                </a:ln>
                <a:solidFill>
                  <a:schemeClr val="tx1"/>
                </a:solidFill>
                <a:effectLst/>
                <a:latin typeface="Arial Unicode MS" panose="020B0604020202020204" pitchFamily="34" charset="-128"/>
              </a:rPr>
              <a:t>)</a:t>
            </a:r>
            <a:endParaRPr kumimoji="0" lang="en-US" altLang="en-US" sz="12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Outputs:</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Binary</a:t>
            </a:r>
            <a:r>
              <a:rPr kumimoji="0" lang="en-US" altLang="en-US" sz="1200" b="0" i="0" u="none" strike="noStrike" cap="none" normalizeH="0" baseline="0" dirty="0" smtClean="0">
                <a:ln>
                  <a:noFill/>
                </a:ln>
                <a:solidFill>
                  <a:schemeClr val="tx1"/>
                </a:solidFill>
                <a:effectLst/>
                <a:latin typeface="Arial" panose="020B0604020202020204" pitchFamily="34" charset="0"/>
              </a:rPr>
              <a:t>: Hateful vs. Non-Hateful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Multiclass</a:t>
            </a:r>
            <a:r>
              <a:rPr kumimoji="0" lang="en-US" altLang="en-US" sz="1200" b="0" i="0" u="none" strike="noStrike" cap="none" normalizeH="0" baseline="0" dirty="0" smtClean="0">
                <a:ln>
                  <a:noFill/>
                </a:ln>
                <a:solidFill>
                  <a:schemeClr val="tx1"/>
                </a:solidFill>
                <a:effectLst/>
                <a:latin typeface="Arial" panose="020B0604020202020204" pitchFamily="34" charset="0"/>
              </a:rPr>
              <a:t>: Not Hateful, Somewhat Hateful, Hateful</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smtClean="0">
                <a:ln>
                  <a:noFill/>
                </a:ln>
                <a:solidFill>
                  <a:schemeClr val="tx1"/>
                </a:solidFill>
                <a:effectLst/>
                <a:latin typeface="Arial" panose="020B0604020202020204" pitchFamily="34" charset="0"/>
              </a:rPr>
              <a:t>Training:</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Loss Function:</a:t>
            </a:r>
            <a:r>
              <a:rPr kumimoji="0" lang="en-US" altLang="en-US" sz="1200" b="0" i="0" u="none" strike="noStrike" cap="none" normalizeH="0" baseline="0" dirty="0" smtClean="0">
                <a:ln>
                  <a:noFill/>
                </a:ln>
                <a:solidFill>
                  <a:schemeClr val="tx1"/>
                </a:solidFill>
                <a:effectLst/>
                <a:latin typeface="Arial" panose="020B0604020202020204" pitchFamily="34" charset="0"/>
              </a:rPr>
              <a:t> </a:t>
            </a:r>
            <a:r>
              <a:rPr kumimoji="0" lang="en-US" altLang="en-US" sz="1200" b="0" i="0" u="none" strike="noStrike" cap="none" normalizeH="0" baseline="0" dirty="0" err="1" smtClean="0">
                <a:ln>
                  <a:noFill/>
                </a:ln>
                <a:solidFill>
                  <a:schemeClr val="tx1"/>
                </a:solidFill>
                <a:effectLst/>
                <a:latin typeface="Arial" panose="020B0604020202020204" pitchFamily="34" charset="0"/>
              </a:rPr>
              <a:t>CrossEntropyLoss</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Early Stopping:</a:t>
            </a:r>
            <a:r>
              <a:rPr kumimoji="0" lang="en-US" altLang="en-US" sz="1200" b="0" i="0" u="none" strike="noStrike" cap="none" normalizeH="0" baseline="0" dirty="0" smtClean="0">
                <a:ln>
                  <a:noFill/>
                </a:ln>
                <a:solidFill>
                  <a:schemeClr val="tx1"/>
                </a:solidFill>
                <a:effectLst/>
                <a:latin typeface="Arial" panose="020B0604020202020204" pitchFamily="34" charset="0"/>
              </a:rPr>
              <a:t> Based on validation loss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smtClean="0">
                <a:ln>
                  <a:noFill/>
                </a:ln>
                <a:solidFill>
                  <a:schemeClr val="tx1"/>
                </a:solidFill>
                <a:effectLst/>
                <a:latin typeface="Arial" panose="020B0604020202020204" pitchFamily="34" charset="0"/>
              </a:rPr>
              <a:t>Regularization:</a:t>
            </a:r>
            <a:r>
              <a:rPr kumimoji="0" lang="en-US" altLang="en-US" sz="1200" b="0" i="0" u="none" strike="noStrike" cap="none" normalizeH="0" baseline="0" dirty="0" smtClean="0">
                <a:ln>
                  <a:noFill/>
                </a:ln>
                <a:solidFill>
                  <a:schemeClr val="tx1"/>
                </a:solidFill>
                <a:effectLst/>
                <a:latin typeface="Arial" panose="020B0604020202020204" pitchFamily="34" charset="0"/>
              </a:rPr>
              <a:t> Dropout and </a:t>
            </a:r>
            <a:r>
              <a:rPr kumimoji="0" lang="en-US" altLang="en-US" sz="1200" b="0" i="0" u="none" strike="noStrike" cap="none" normalizeH="0" baseline="0" dirty="0" err="1" smtClean="0">
                <a:ln>
                  <a:noFill/>
                </a:ln>
                <a:solidFill>
                  <a:schemeClr val="tx1"/>
                </a:solidFill>
                <a:effectLst/>
                <a:latin typeface="Arial" panose="020B0604020202020204" pitchFamily="34" charset="0"/>
              </a:rPr>
              <a:t>BatchNorm</a:t>
            </a:r>
            <a:r>
              <a:rPr kumimoji="0" lang="en-US" altLang="en-US" sz="1200" b="0" i="0" u="none" strike="noStrike" cap="none" normalizeH="0" baseline="0" dirty="0" smtClean="0">
                <a:ln>
                  <a:noFill/>
                </a:ln>
                <a:solidFill>
                  <a:schemeClr val="tx1"/>
                </a:solidFill>
                <a:effectLst/>
                <a:latin typeface="Arial" panose="020B0604020202020204" pitchFamily="34" charset="0"/>
              </a:rPr>
              <a:t> included in branches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004887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dirty="0" smtClean="0">
                <a:solidFill>
                  <a:schemeClr val="accent1"/>
                </a:solidFill>
              </a:rPr>
              <a:t>Observations </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54</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3"/>
          <p:cNvSpPr>
            <a:spLocks noChangeArrowheads="1"/>
          </p:cNvSpPr>
          <p:nvPr/>
        </p:nvSpPr>
        <p:spPr bwMode="auto">
          <a:xfrm>
            <a:off x="838200" y="1110339"/>
            <a:ext cx="10087465" cy="4899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Final Observations &amp; Key Insights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2-Class Classification (768-dim, V1)</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Complete Modality:</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MBNET outperforms all prior baselines.</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Best overall: </a:t>
            </a:r>
            <a:r>
              <a:rPr kumimoji="0" lang="en-US" altLang="en-US" sz="1400" b="0" i="0" u="none" strike="noStrike" cap="none" normalizeH="0" baseline="0" dirty="0" smtClean="0">
                <a:ln>
                  <a:noFill/>
                </a:ln>
                <a:solidFill>
                  <a:schemeClr val="tx1"/>
                </a:solidFill>
                <a:effectLst/>
                <a:latin typeface="Arial Unicode MS" panose="020B0604020202020204" pitchFamily="34" charset="-128"/>
              </a:rPr>
              <a:t>CLIP + CLIP</a:t>
            </a:r>
            <a:r>
              <a:rPr kumimoji="0" lang="en-US" altLang="en-US" sz="1400" b="0" i="0" u="none" strike="noStrike" cap="none" normalizeH="0" baseline="0" dirty="0" smtClean="0">
                <a:ln>
                  <a:noFill/>
                </a:ln>
                <a:solidFill>
                  <a:schemeClr val="tx1"/>
                </a:solidFill>
                <a:effectLst/>
              </a:rPr>
              <a:t> on </a:t>
            </a:r>
            <a:r>
              <a:rPr kumimoji="0" lang="en-US" altLang="en-US" sz="1400" b="1" i="0" u="none" strike="noStrike" cap="none" normalizeH="0" baseline="0" dirty="0" err="1" smtClean="0">
                <a:ln>
                  <a:noFill/>
                </a:ln>
                <a:solidFill>
                  <a:schemeClr val="tx1"/>
                </a:solidFill>
                <a:effectLst/>
                <a:latin typeface="Arial" panose="020B0604020202020204" pitchFamily="34" charset="0"/>
              </a:rPr>
              <a:t>HarmC</a:t>
            </a:r>
            <a:r>
              <a:rPr kumimoji="0" lang="en-US" altLang="en-US" sz="1400" b="0" i="0" u="none" strike="noStrike" cap="none" normalizeH="0" baseline="0" dirty="0" smtClean="0">
                <a:ln>
                  <a:noFill/>
                </a:ln>
                <a:solidFill>
                  <a:schemeClr val="tx1"/>
                </a:solidFill>
                <a:effectLst/>
                <a:latin typeface="Arial" panose="020B0604020202020204" pitchFamily="34" charset="0"/>
              </a:rPr>
              <a:t> with </a:t>
            </a:r>
            <a:r>
              <a:rPr kumimoji="0" lang="en-US" altLang="en-US" sz="1400" b="1" i="0" u="none" strike="noStrike" cap="none" normalizeH="0" baseline="0" dirty="0" smtClean="0">
                <a:ln>
                  <a:noFill/>
                </a:ln>
                <a:solidFill>
                  <a:schemeClr val="tx1"/>
                </a:solidFill>
                <a:effectLst/>
                <a:latin typeface="Arial" panose="020B0604020202020204" pitchFamily="34" charset="0"/>
              </a:rPr>
              <a:t>MBNET (Linear fusion)</a:t>
            </a:r>
            <a:r>
              <a:rPr kumimoji="0" lang="en-US" altLang="en-US" sz="1400" b="0" i="0" u="none" strike="noStrike" cap="none" normalizeH="0" baseline="0" dirty="0" smtClean="0">
                <a:ln>
                  <a:noFill/>
                </a:ln>
                <a:solidFill>
                  <a:schemeClr val="tx1"/>
                </a:solidFill>
                <a:effectLst/>
                <a:latin typeface="Arial" panose="020B0604020202020204" pitchFamily="34" charset="0"/>
              </a:rPr>
              <a:t> → </a:t>
            </a:r>
            <a:r>
              <a:rPr kumimoji="0" lang="en-US" altLang="en-US" sz="1400" b="1" i="0" u="none" strike="noStrike" cap="none" normalizeH="0" baseline="0" dirty="0" err="1" smtClean="0">
                <a:ln>
                  <a:noFill/>
                </a:ln>
                <a:solidFill>
                  <a:schemeClr val="tx1"/>
                </a:solidFill>
                <a:effectLst/>
                <a:latin typeface="Arial" panose="020B0604020202020204" pitchFamily="34" charset="0"/>
              </a:rPr>
              <a:t>Acc</a:t>
            </a:r>
            <a:r>
              <a:rPr kumimoji="0" lang="en-US" altLang="en-US" sz="1400" b="1" i="0" u="none" strike="noStrike" cap="none" normalizeH="0" baseline="0" dirty="0" smtClean="0">
                <a:ln>
                  <a:noFill/>
                </a:ln>
                <a:solidFill>
                  <a:schemeClr val="tx1"/>
                </a:solidFill>
                <a:effectLst/>
                <a:latin typeface="Arial" panose="020B0604020202020204" pitchFamily="34" charset="0"/>
              </a:rPr>
              <a:t> = 0.8008</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1" i="0" u="none" strike="noStrike" cap="none" normalizeH="0" baseline="0" dirty="0" smtClean="0">
                <a:ln>
                  <a:noFill/>
                </a:ln>
                <a:solidFill>
                  <a:schemeClr val="tx1"/>
                </a:solidFill>
                <a:effectLst/>
                <a:latin typeface="Arial" panose="020B0604020202020204" pitchFamily="34" charset="0"/>
              </a:rPr>
              <a:t>M-F1 = 0.7695</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For </a:t>
            </a:r>
            <a:r>
              <a:rPr kumimoji="0" lang="en-US" altLang="en-US" sz="1400" b="1" i="0" u="none" strike="noStrike" cap="none" normalizeH="0" baseline="0" dirty="0" err="1" smtClean="0">
                <a:ln>
                  <a:noFill/>
                </a:ln>
                <a:solidFill>
                  <a:schemeClr val="tx1"/>
                </a:solidFill>
                <a:effectLst/>
                <a:latin typeface="Arial" panose="020B0604020202020204" pitchFamily="34" charset="0"/>
              </a:rPr>
              <a:t>HarmP</a:t>
            </a:r>
            <a:r>
              <a:rPr kumimoji="0" lang="en-US" altLang="en-US" sz="1400" b="0" i="0" u="none" strike="noStrike" cap="none" normalizeH="0" baseline="0" dirty="0" smtClean="0">
                <a:ln>
                  <a:noFill/>
                </a:ln>
                <a:solidFill>
                  <a:schemeClr val="tx1"/>
                </a:solidFill>
                <a:effectLst/>
                <a:latin typeface="Arial" panose="020B0604020202020204" pitchFamily="34" charset="0"/>
              </a:rPr>
              <a:t>, MBNET also improves slightly over SBNET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 0.6392, M-F1 ≈ 0.6391 using Gated Fusion).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Arial" panose="020B0604020202020204" pitchFamily="34" charset="0"/>
              </a:rPr>
              <a:t>SBNET remains strong</a:t>
            </a:r>
            <a:r>
              <a:rPr kumimoji="0" lang="en-US" altLang="en-US" sz="1400" b="0" i="0" u="none" strike="noStrike" cap="none" normalizeH="0" baseline="0" dirty="0" smtClean="0">
                <a:ln>
                  <a:noFill/>
                </a:ln>
                <a:solidFill>
                  <a:schemeClr val="tx1"/>
                </a:solidFill>
                <a:effectLst/>
                <a:latin typeface="Arial" panose="020B0604020202020204" pitchFamily="34" charset="0"/>
              </a:rPr>
              <a:t> but lags behind MBNET. Best results were with </a:t>
            </a:r>
            <a:r>
              <a:rPr kumimoji="0" lang="en-US" altLang="en-US" sz="1400" b="0" i="0" u="none" strike="noStrike" cap="none" normalizeH="0" baseline="0" dirty="0" smtClean="0">
                <a:ln>
                  <a:noFill/>
                </a:ln>
                <a:solidFill>
                  <a:schemeClr val="tx1"/>
                </a:solidFill>
                <a:effectLst/>
                <a:latin typeface="Arial Unicode MS" panose="020B0604020202020204" pitchFamily="34" charset="-128"/>
              </a:rPr>
              <a:t>CLIP+CLIP</a:t>
            </a:r>
            <a:r>
              <a:rPr kumimoji="0" lang="en-US" altLang="en-US" sz="1400" b="0" i="0" u="none" strike="noStrike" cap="none" normalizeH="0" baseline="0" dirty="0" smtClean="0">
                <a:ln>
                  <a:noFill/>
                </a:ln>
                <a:solidFill>
                  <a:schemeClr val="tx1"/>
                </a:solidFill>
                <a:effectLst/>
              </a:rPr>
              <a:t> on </a:t>
            </a:r>
            <a:r>
              <a:rPr kumimoji="0" lang="en-US" altLang="en-US" sz="1400" b="0" i="0" u="none" strike="noStrike" cap="none" normalizeH="0" baseline="0" dirty="0" err="1" smtClean="0">
                <a:ln>
                  <a:noFill/>
                </a:ln>
                <a:solidFill>
                  <a:schemeClr val="tx1"/>
                </a:solidFill>
                <a:effectLst/>
              </a:rPr>
              <a:t>HarmC</a:t>
            </a:r>
            <a:r>
              <a:rPr kumimoji="0" lang="en-US" altLang="en-US" sz="1400" b="0" i="0" u="none" strike="noStrike" cap="none" normalizeH="0" baseline="0" dirty="0" smtClean="0">
                <a:ln>
                  <a:noFill/>
                </a:ln>
                <a:solidFill>
                  <a:schemeClr val="tx1"/>
                </a:solidFill>
                <a:effectLst/>
              </a:rPr>
              <a:t> (</a:t>
            </a:r>
            <a:r>
              <a:rPr kumimoji="0" lang="en-US" altLang="en-US" sz="1400" b="0" i="0" u="none" strike="noStrike" cap="none" normalizeH="0" baseline="0" dirty="0" err="1" smtClean="0">
                <a:ln>
                  <a:noFill/>
                </a:ln>
                <a:solidFill>
                  <a:schemeClr val="tx1"/>
                </a:solidFill>
                <a:effectLst/>
              </a:rPr>
              <a:t>Acc</a:t>
            </a:r>
            <a:r>
              <a:rPr kumimoji="0" lang="en-US" altLang="en-US" sz="1400" b="0" i="0" u="none" strike="noStrike" cap="none" normalizeH="0" baseline="0" dirty="0" smtClean="0">
                <a:ln>
                  <a:noFill/>
                </a:ln>
                <a:solidFill>
                  <a:schemeClr val="tx1"/>
                </a:solidFill>
                <a:effectLst/>
              </a:rPr>
              <a:t> ≈ 0.7815, M-F1 ≈ 0.7629).</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Missing Modality:</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MBNET shows high robustness, especially on </a:t>
            </a:r>
            <a:r>
              <a:rPr kumimoji="0" lang="en-US" altLang="en-US" sz="1400" b="0" i="0" u="none" strike="noStrike" cap="none" normalizeH="0" baseline="0" dirty="0" err="1" smtClean="0">
                <a:ln>
                  <a:noFill/>
                </a:ln>
                <a:solidFill>
                  <a:schemeClr val="tx1"/>
                </a:solidFill>
                <a:effectLst/>
                <a:latin typeface="Arial" panose="020B0604020202020204" pitchFamily="34" charset="0"/>
              </a:rPr>
              <a:t>HarmC</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Using </a:t>
            </a:r>
            <a:r>
              <a:rPr kumimoji="0" lang="en-US" altLang="en-US" sz="1400" b="1" i="0" u="none" strike="noStrike" cap="none" normalizeH="0" baseline="0" dirty="0" smtClean="0">
                <a:ln>
                  <a:noFill/>
                </a:ln>
                <a:solidFill>
                  <a:schemeClr val="tx1"/>
                </a:solidFill>
                <a:effectLst/>
                <a:latin typeface="Arial" panose="020B0604020202020204" pitchFamily="34" charset="0"/>
              </a:rPr>
              <a:t>CLIP-only (Linear Fusion)</a:t>
            </a:r>
            <a:r>
              <a:rPr kumimoji="0" lang="en-US" altLang="en-US" sz="1400" b="0" i="0" u="none" strike="noStrike" cap="none" normalizeH="0" baseline="0" dirty="0" smtClean="0">
                <a:ln>
                  <a:noFill/>
                </a:ln>
                <a:solidFill>
                  <a:schemeClr val="tx1"/>
                </a:solidFill>
                <a:effectLst/>
                <a:latin typeface="Arial" panose="020B0604020202020204" pitchFamily="34" charset="0"/>
              </a:rPr>
              <a:t> →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 </a:t>
            </a:r>
            <a:r>
              <a:rPr kumimoji="0" lang="en-US" altLang="en-US" sz="1400" b="1" i="0" u="none" strike="noStrike" cap="none" normalizeH="0" baseline="0" dirty="0" smtClean="0">
                <a:ln>
                  <a:noFill/>
                </a:ln>
                <a:solidFill>
                  <a:schemeClr val="tx1"/>
                </a:solidFill>
                <a:effectLst/>
                <a:latin typeface="Arial" panose="020B0604020202020204" pitchFamily="34" charset="0"/>
              </a:rPr>
              <a:t>0.7923</a:t>
            </a:r>
            <a:r>
              <a:rPr kumimoji="0" lang="en-US" altLang="en-US" sz="1400" b="0" i="0" u="none" strike="noStrike" cap="none" normalizeH="0" baseline="0" dirty="0" smtClean="0">
                <a:ln>
                  <a:noFill/>
                </a:ln>
                <a:solidFill>
                  <a:schemeClr val="tx1"/>
                </a:solidFill>
                <a:effectLst/>
                <a:latin typeface="Arial" panose="020B0604020202020204" pitchFamily="34" charset="0"/>
              </a:rPr>
              <a:t>, M-F1 = </a:t>
            </a:r>
            <a:r>
              <a:rPr kumimoji="0" lang="en-US" altLang="en-US" sz="1400" b="1" i="0" u="none" strike="noStrike" cap="none" normalizeH="0" baseline="0" dirty="0" smtClean="0">
                <a:ln>
                  <a:noFill/>
                </a:ln>
                <a:solidFill>
                  <a:schemeClr val="tx1"/>
                </a:solidFill>
                <a:effectLst/>
                <a:latin typeface="Arial" panose="020B0604020202020204" pitchFamily="34" charset="0"/>
              </a:rPr>
              <a:t>0.7685</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Even with </a:t>
            </a:r>
            <a:r>
              <a:rPr kumimoji="0" lang="en-US" altLang="en-US" sz="1400" b="1" i="0" u="none" strike="noStrike" cap="none" normalizeH="0" baseline="0" dirty="0" smtClean="0">
                <a:ln>
                  <a:noFill/>
                </a:ln>
                <a:solidFill>
                  <a:schemeClr val="tx1"/>
                </a:solidFill>
                <a:effectLst/>
                <a:latin typeface="Arial" panose="020B0604020202020204" pitchFamily="34" charset="0"/>
              </a:rPr>
              <a:t>missing image</a:t>
            </a:r>
            <a:r>
              <a:rPr kumimoji="0" lang="en-US" altLang="en-US" sz="1400" b="0" i="0" u="none" strike="noStrike" cap="none" normalizeH="0" baseline="0" dirty="0" smtClean="0">
                <a:ln>
                  <a:noFill/>
                </a:ln>
                <a:solidFill>
                  <a:schemeClr val="tx1"/>
                </a:solidFill>
                <a:effectLst/>
                <a:latin typeface="Arial" panose="020B0604020202020204" pitchFamily="34" charset="0"/>
              </a:rPr>
              <a:t>, results stay strong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 0.7471 with SBERT text).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HarmP</a:t>
            </a:r>
            <a:r>
              <a:rPr kumimoji="0" lang="en-US" altLang="en-US" sz="1400" b="0" i="0" u="none" strike="noStrike" cap="none" normalizeH="0" baseline="0" dirty="0" smtClean="0">
                <a:ln>
                  <a:noFill/>
                </a:ln>
                <a:solidFill>
                  <a:schemeClr val="tx1"/>
                </a:solidFill>
                <a:effectLst/>
                <a:latin typeface="Arial" panose="020B0604020202020204" pitchFamily="34" charset="0"/>
              </a:rPr>
              <a:t> remains consistently lower across all missing setups. Best MBNET result with missing text: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 </a:t>
            </a:r>
            <a:r>
              <a:rPr kumimoji="0" lang="en-US" altLang="en-US" sz="1400" b="1" i="0" u="none" strike="noStrike" cap="none" normalizeH="0" baseline="0" dirty="0" smtClean="0">
                <a:ln>
                  <a:noFill/>
                </a:ln>
                <a:solidFill>
                  <a:schemeClr val="tx1"/>
                </a:solidFill>
                <a:effectLst/>
                <a:latin typeface="Arial" panose="020B0604020202020204" pitchFamily="34" charset="0"/>
              </a:rPr>
              <a:t>0.6464</a:t>
            </a:r>
            <a:r>
              <a:rPr kumimoji="0" lang="en-US" altLang="en-US" sz="1400" b="0" i="0" u="none" strike="noStrike" cap="none" normalizeH="0" baseline="0" dirty="0" smtClean="0">
                <a:ln>
                  <a:noFill/>
                </a:ln>
                <a:solidFill>
                  <a:schemeClr val="tx1"/>
                </a:solidFill>
                <a:effectLst/>
                <a:latin typeface="Arial" panose="020B0604020202020204" pitchFamily="34" charset="0"/>
              </a:rPr>
              <a:t>, M-F1 ≈ </a:t>
            </a:r>
            <a:r>
              <a:rPr kumimoji="0" lang="en-US" altLang="en-US" sz="1400" b="1" i="0" u="none" strike="noStrike" cap="none" normalizeH="0" baseline="0" dirty="0" smtClean="0">
                <a:ln>
                  <a:noFill/>
                </a:ln>
                <a:solidFill>
                  <a:schemeClr val="tx1"/>
                </a:solidFill>
                <a:effectLst/>
                <a:latin typeface="Arial" panose="020B0604020202020204" pitchFamily="34" charset="0"/>
              </a:rPr>
              <a:t>0.6452</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12718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dirty="0" smtClean="0">
                <a:solidFill>
                  <a:schemeClr val="accent1"/>
                </a:solidFill>
              </a:rPr>
              <a:t>Observations </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55</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84261"/>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5"/>
          <p:cNvSpPr>
            <a:spLocks noChangeArrowheads="1"/>
          </p:cNvSpPr>
          <p:nvPr/>
        </p:nvSpPr>
        <p:spPr bwMode="auto">
          <a:xfrm>
            <a:off x="838200" y="1295819"/>
            <a:ext cx="8362995" cy="3607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3-Class Classification (768-dim, V1)</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Complete Modality (SBNET only):</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Performance drops compared to 2class.</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HarmC</a:t>
            </a:r>
            <a:r>
              <a:rPr kumimoji="0" lang="en-US" altLang="en-US" sz="1400" b="0" i="0" u="none" strike="noStrike" cap="none" normalizeH="0" baseline="0" dirty="0" smtClean="0">
                <a:ln>
                  <a:noFill/>
                </a:ln>
                <a:solidFill>
                  <a:schemeClr val="tx1"/>
                </a:solidFill>
                <a:effectLst/>
                <a:latin typeface="Arial" panose="020B0604020202020204" pitchFamily="34" charset="0"/>
              </a:rPr>
              <a:t>: SBERT+CLIP yields </a:t>
            </a:r>
            <a:r>
              <a:rPr kumimoji="0" lang="en-US" altLang="en-US" sz="1400" b="1" i="0" u="none" strike="noStrike" cap="none" normalizeH="0" baseline="0" dirty="0" smtClean="0">
                <a:ln>
                  <a:noFill/>
                </a:ln>
                <a:solidFill>
                  <a:schemeClr val="tx1"/>
                </a:solidFill>
                <a:effectLst/>
                <a:latin typeface="Arial" panose="020B0604020202020204" pitchFamily="34" charset="0"/>
              </a:rPr>
              <a:t>M-F1 = 0.5178</a:t>
            </a:r>
            <a:r>
              <a:rPr kumimoji="0" lang="en-US" altLang="en-US" sz="1400" b="0" i="0" u="none" strike="noStrike" cap="none" normalizeH="0" baseline="0" dirty="0" smtClean="0">
                <a:ln>
                  <a:noFill/>
                </a:ln>
                <a:solidFill>
                  <a:schemeClr val="tx1"/>
                </a:solidFill>
                <a:effectLst/>
                <a:latin typeface="Arial" panose="020B0604020202020204" pitchFamily="34" charset="0"/>
              </a:rPr>
              <a:t>; CLIP+CLIP gets slightly higher accuracy (~0.7048).</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HarmP</a:t>
            </a:r>
            <a:r>
              <a:rPr kumimoji="0" lang="en-US" altLang="en-US" sz="1400" b="0" i="0" u="none" strike="noStrike" cap="none" normalizeH="0" baseline="0" dirty="0" smtClean="0">
                <a:ln>
                  <a:noFill/>
                </a:ln>
                <a:solidFill>
                  <a:schemeClr val="tx1"/>
                </a:solidFill>
                <a:effectLst/>
                <a:latin typeface="Arial" panose="020B0604020202020204" pitchFamily="34" charset="0"/>
              </a:rPr>
              <a:t> performs notably worse: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~0.5570–0.5815, M-F1 well below 0.5.</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rPr>
              <a:t>Missing Modality (SBNET only):</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HarmC</a:t>
            </a:r>
            <a:r>
              <a:rPr kumimoji="0" lang="en-US" altLang="en-US" sz="1400" b="0" i="0" u="none" strike="noStrike" cap="none" normalizeH="0" baseline="0" dirty="0" smtClean="0">
                <a:ln>
                  <a:noFill/>
                </a:ln>
                <a:solidFill>
                  <a:schemeClr val="tx1"/>
                </a:solidFill>
                <a:effectLst/>
                <a:latin typeface="Arial" panose="020B0604020202020204" pitchFamily="34" charset="0"/>
              </a:rPr>
              <a:t> is still relatively stable:</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CLIP-only: </a:t>
            </a:r>
            <a:r>
              <a:rPr kumimoji="0" lang="en-US" altLang="en-US" sz="1400" b="0" i="0" u="none" strike="noStrike" cap="none" normalizeH="0" baseline="0" dirty="0" err="1" smtClean="0">
                <a:ln>
                  <a:noFill/>
                </a:ln>
                <a:solidFill>
                  <a:schemeClr val="tx1"/>
                </a:solidFill>
                <a:effectLst/>
                <a:latin typeface="Arial" panose="020B0604020202020204" pitchFamily="34" charset="0"/>
              </a:rPr>
              <a:t>Acc</a:t>
            </a:r>
            <a:r>
              <a:rPr kumimoji="0" lang="en-US" altLang="en-US" sz="1400" b="0" i="0" u="none" strike="noStrike" cap="none" normalizeH="0" baseline="0" dirty="0" smtClean="0">
                <a:ln>
                  <a:noFill/>
                </a:ln>
                <a:solidFill>
                  <a:schemeClr val="tx1"/>
                </a:solidFill>
                <a:effectLst/>
                <a:latin typeface="Arial" panose="020B0604020202020204" pitchFamily="34" charset="0"/>
              </a:rPr>
              <a:t> ≈ </a:t>
            </a:r>
            <a:r>
              <a:rPr kumimoji="0" lang="en-US" altLang="en-US" sz="1400" b="1" i="0" u="none" strike="noStrike" cap="none" normalizeH="0" baseline="0" dirty="0" smtClean="0">
                <a:ln>
                  <a:noFill/>
                </a:ln>
                <a:solidFill>
                  <a:schemeClr val="tx1"/>
                </a:solidFill>
                <a:effectLst/>
                <a:latin typeface="Arial" panose="020B0604020202020204" pitchFamily="34" charset="0"/>
              </a:rPr>
              <a:t>0.6921</a:t>
            </a:r>
            <a:r>
              <a:rPr kumimoji="0" lang="en-US" altLang="en-US" sz="1400" b="0" i="0" u="none" strike="noStrike" cap="none" normalizeH="0" baseline="0" dirty="0" smtClean="0">
                <a:ln>
                  <a:noFill/>
                </a:ln>
                <a:solidFill>
                  <a:schemeClr val="tx1"/>
                </a:solidFill>
                <a:effectLst/>
                <a:latin typeface="Arial" panose="020B0604020202020204" pitchFamily="34" charset="0"/>
              </a:rPr>
              <a:t>, M-F1 ≈ </a:t>
            </a:r>
            <a:r>
              <a:rPr kumimoji="0" lang="en-US" altLang="en-US" sz="1400" b="1" i="0" u="none" strike="noStrike" cap="none" normalizeH="0" baseline="0" dirty="0" smtClean="0">
                <a:ln>
                  <a:noFill/>
                </a:ln>
                <a:solidFill>
                  <a:schemeClr val="tx1"/>
                </a:solidFill>
                <a:effectLst/>
                <a:latin typeface="Arial" panose="020B0604020202020204" pitchFamily="34" charset="0"/>
              </a:rPr>
              <a:t>0.5055</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HarmP</a:t>
            </a:r>
            <a:r>
              <a:rPr kumimoji="0" lang="en-US" altLang="en-US" sz="1400" b="0" i="0" u="none" strike="noStrike" cap="none" normalizeH="0" baseline="0" dirty="0" smtClean="0">
                <a:ln>
                  <a:noFill/>
                </a:ln>
                <a:solidFill>
                  <a:schemeClr val="tx1"/>
                </a:solidFill>
                <a:effectLst/>
                <a:latin typeface="Arial" panose="020B0604020202020204" pitchFamily="34" charset="0"/>
              </a:rPr>
              <a:t> drops substantially:</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rPr>
              <a:t>Best M-F1 barely reaches </a:t>
            </a:r>
            <a:r>
              <a:rPr kumimoji="0" lang="en-US" altLang="en-US" sz="1400" b="1" i="0" u="none" strike="noStrike" cap="none" normalizeH="0" baseline="0" dirty="0" smtClean="0">
                <a:ln>
                  <a:noFill/>
                </a:ln>
                <a:solidFill>
                  <a:schemeClr val="tx1"/>
                </a:solidFill>
                <a:effectLst/>
                <a:latin typeface="Arial" panose="020B0604020202020204" pitchFamily="34" charset="0"/>
              </a:rPr>
              <a:t>0.4789</a:t>
            </a:r>
            <a:r>
              <a:rPr kumimoji="0" lang="en-US" altLang="en-US" sz="1400" b="0" i="0" u="none" strike="noStrike" cap="none" normalizeH="0" baseline="0" dirty="0" smtClean="0">
                <a:ln>
                  <a:noFill/>
                </a:ln>
                <a:solidFill>
                  <a:schemeClr val="tx1"/>
                </a:solidFill>
                <a:effectLst/>
                <a:latin typeface="Arial" panose="020B0604020202020204" pitchFamily="34" charset="0"/>
              </a:rPr>
              <a:t>, worst dips to </a:t>
            </a:r>
            <a:r>
              <a:rPr kumimoji="0" lang="en-US" altLang="en-US" sz="1400" b="1" i="0" u="none" strike="noStrike" cap="none" normalizeH="0" baseline="0" dirty="0" smtClean="0">
                <a:ln>
                  <a:noFill/>
                </a:ln>
                <a:solidFill>
                  <a:schemeClr val="tx1"/>
                </a:solidFill>
                <a:effectLst/>
                <a:latin typeface="Arial" panose="020B0604020202020204" pitchFamily="34" charset="0"/>
              </a:rPr>
              <a:t>0.4195</a:t>
            </a:r>
            <a:r>
              <a:rPr kumimoji="0" lang="en-US" altLang="en-US" sz="1400" b="0" i="0" u="none" strike="noStrike" cap="none" normalizeH="0" baseline="0" dirty="0" smtClean="0">
                <a:ln>
                  <a:noFill/>
                </a:ln>
                <a:solidFill>
                  <a:schemeClr val="tx1"/>
                </a:solidFill>
                <a:effectLst/>
                <a:latin typeface="Arial" panose="020B0604020202020204" pitchFamily="34" charset="0"/>
              </a:rPr>
              <a:t> (text-only setup).</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838200" y="4987286"/>
            <a:ext cx="9508504" cy="1169551"/>
          </a:xfrm>
          <a:prstGeom prst="rect">
            <a:avLst/>
          </a:prstGeom>
        </p:spPr>
        <p:txBody>
          <a:bodyPr wrap="square">
            <a:spAutoFit/>
          </a:bodyPr>
          <a:lstStyle/>
          <a:p>
            <a:r>
              <a:rPr lang="en-US" sz="1400" b="1" dirty="0"/>
              <a:t>Roman-Urdu Meme Dataset (SBNET Only, 2-Class)</a:t>
            </a:r>
          </a:p>
          <a:p>
            <a:pPr>
              <a:buFont typeface="Arial" panose="020B0604020202020204" pitchFamily="34" charset="0"/>
              <a:buChar char="•"/>
            </a:pPr>
            <a:r>
              <a:rPr lang="en-US" sz="1400" dirty="0"/>
              <a:t>A promising new domain tested.</a:t>
            </a:r>
          </a:p>
          <a:p>
            <a:pPr>
              <a:buFont typeface="Arial" panose="020B0604020202020204" pitchFamily="34" charset="0"/>
              <a:buChar char="•"/>
            </a:pPr>
            <a:r>
              <a:rPr lang="en-US" sz="1400" b="1" dirty="0"/>
              <a:t>SBNET achieves strong performance</a:t>
            </a:r>
            <a:r>
              <a:rPr lang="en-US" sz="1400" dirty="0"/>
              <a:t>:</a:t>
            </a:r>
          </a:p>
          <a:p>
            <a:pPr marL="742950" lvl="1" indent="-285750">
              <a:buFont typeface="Arial" panose="020B0604020202020204" pitchFamily="34" charset="0"/>
              <a:buChar char="•"/>
            </a:pPr>
            <a:r>
              <a:rPr lang="en-US" sz="1400" b="1" dirty="0" err="1"/>
              <a:t>Acc</a:t>
            </a:r>
            <a:r>
              <a:rPr lang="en-US" sz="1400" b="1" dirty="0"/>
              <a:t> = 0.7053</a:t>
            </a:r>
            <a:r>
              <a:rPr lang="en-US" sz="1400" dirty="0"/>
              <a:t>, </a:t>
            </a:r>
            <a:r>
              <a:rPr lang="en-US" sz="1400" b="1" dirty="0"/>
              <a:t>M-F1 = 0.6977</a:t>
            </a:r>
            <a:r>
              <a:rPr lang="en-US" sz="1400" dirty="0"/>
              <a:t>, indicating that the architecture generalizes reasonably well to multilingual/noisy-text meme data.</a:t>
            </a:r>
          </a:p>
        </p:txBody>
      </p:sp>
    </p:spTree>
    <p:extLst>
      <p:ext uri="{BB962C8B-B14F-4D97-AF65-F5344CB8AC3E}">
        <p14:creationId xmlns:p14="http://schemas.microsoft.com/office/powerpoint/2010/main" val="99712771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altLang="en-US" sz="3200" b="1" u="sng" dirty="0" smtClean="0">
                <a:solidFill>
                  <a:schemeClr val="accent1"/>
                </a:solidFill>
              </a:rPr>
              <a:t>Conclusion </a:t>
            </a:r>
            <a:endParaRPr lang="en-US" altLang="en-US" sz="3200" b="1" u="sng" dirty="0">
              <a:solidFill>
                <a:schemeClr val="accent1"/>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56</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p:cNvSpPr>
            <a:spLocks noChangeArrowheads="1"/>
          </p:cNvSpPr>
          <p:nvPr/>
        </p:nvSpPr>
        <p:spPr bwMode="auto">
          <a:xfrm>
            <a:off x="838200" y="1690688"/>
            <a:ext cx="10258424"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err="1" smtClean="0">
                <a:ln>
                  <a:noFill/>
                </a:ln>
                <a:solidFill>
                  <a:schemeClr val="tx1"/>
                </a:solidFill>
                <a:effectLst/>
                <a:latin typeface="Arial" panose="020B0604020202020204" pitchFamily="34" charset="0"/>
              </a:rPr>
              <a:t>HarmC</a:t>
            </a:r>
            <a:r>
              <a:rPr kumimoji="0" lang="en-US" altLang="en-US" sz="1600" b="1" i="0" u="none" strike="noStrike" cap="none" normalizeH="0" baseline="0" dirty="0" smtClean="0">
                <a:ln>
                  <a:noFill/>
                </a:ln>
                <a:solidFill>
                  <a:schemeClr val="tx1"/>
                </a:solidFill>
                <a:effectLst/>
                <a:latin typeface="Arial" panose="020B0604020202020204" pitchFamily="34" charset="0"/>
              </a:rPr>
              <a:t> is consistently more learnable</a:t>
            </a:r>
            <a:r>
              <a:rPr kumimoji="0" lang="en-US" altLang="en-US" sz="1600" b="0" i="0" u="none" strike="noStrike" cap="none" normalizeH="0" baseline="0" dirty="0" smtClean="0">
                <a:ln>
                  <a:noFill/>
                </a:ln>
                <a:solidFill>
                  <a:schemeClr val="tx1"/>
                </a:solidFill>
                <a:effectLst/>
                <a:latin typeface="Arial" panose="020B0604020202020204" pitchFamily="34" charset="0"/>
              </a:rPr>
              <a:t> than </a:t>
            </a:r>
            <a:r>
              <a:rPr kumimoji="0" lang="en-US" altLang="en-US" sz="1600" b="0" i="0" u="none" strike="noStrike" cap="none" normalizeH="0" baseline="0" dirty="0" err="1" smtClean="0">
                <a:ln>
                  <a:noFill/>
                </a:ln>
                <a:solidFill>
                  <a:schemeClr val="tx1"/>
                </a:solidFill>
                <a:effectLst/>
                <a:latin typeface="Arial" panose="020B0604020202020204" pitchFamily="34" charset="0"/>
              </a:rPr>
              <a:t>HarmP</a:t>
            </a:r>
            <a:r>
              <a:rPr kumimoji="0" lang="en-US" altLang="en-US" sz="1600" b="0" i="0" u="none" strike="noStrike" cap="none" normalizeH="0" baseline="0" dirty="0" smtClean="0">
                <a:ln>
                  <a:noFill/>
                </a:ln>
                <a:solidFill>
                  <a:schemeClr val="tx1"/>
                </a:solidFill>
                <a:effectLst/>
                <a:latin typeface="Arial" panose="020B0604020202020204" pitchFamily="34" charset="0"/>
              </a:rPr>
              <a:t> across all setups, suggesting clearer semantics or more consistent annotation.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MBNET yields the best results</a:t>
            </a:r>
            <a:r>
              <a:rPr kumimoji="0" lang="en-US" altLang="en-US" sz="1600" b="0" i="0" u="none" strike="noStrike" cap="none" normalizeH="0" baseline="0" dirty="0" smtClean="0">
                <a:ln>
                  <a:noFill/>
                </a:ln>
                <a:solidFill>
                  <a:schemeClr val="tx1"/>
                </a:solidFill>
                <a:effectLst/>
                <a:latin typeface="Arial" panose="020B0604020202020204" pitchFamily="34" charset="0"/>
              </a:rPr>
              <a:t>, especially for 2-class classification, and shows </a:t>
            </a:r>
            <a:r>
              <a:rPr kumimoji="0" lang="en-US" altLang="en-US" sz="1600" b="1" i="0" u="none" strike="noStrike" cap="none" normalizeH="0" baseline="0" dirty="0" smtClean="0">
                <a:ln>
                  <a:noFill/>
                </a:ln>
                <a:solidFill>
                  <a:schemeClr val="tx1"/>
                </a:solidFill>
                <a:effectLst/>
                <a:latin typeface="Arial" panose="020B0604020202020204" pitchFamily="34" charset="0"/>
              </a:rPr>
              <a:t>graceful degradation in missing modality settings</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SBNET performs respectably</a:t>
            </a:r>
            <a:r>
              <a:rPr kumimoji="0" lang="en-US" altLang="en-US" sz="1600" b="0" i="0" u="none" strike="noStrike" cap="none" normalizeH="0" baseline="0" dirty="0" smtClean="0">
                <a:ln>
                  <a:noFill/>
                </a:ln>
                <a:solidFill>
                  <a:schemeClr val="tx1"/>
                </a:solidFill>
                <a:effectLst/>
                <a:latin typeface="Arial" panose="020B0604020202020204" pitchFamily="34" charset="0"/>
              </a:rPr>
              <a:t> and is valuable for benchmark comparison, especially in multimodal ablation scenarios.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CLIP+CLIP combinations dominate across models</a:t>
            </a:r>
            <a:r>
              <a:rPr kumimoji="0" lang="en-US" altLang="en-US" sz="1600" b="0" i="0" u="none" strike="noStrike" cap="none" normalizeH="0" baseline="0" dirty="0" smtClean="0">
                <a:ln>
                  <a:noFill/>
                </a:ln>
                <a:solidFill>
                  <a:schemeClr val="tx1"/>
                </a:solidFill>
                <a:effectLst/>
                <a:latin typeface="Arial" panose="020B0604020202020204" pitchFamily="34" charset="0"/>
              </a:rPr>
              <a:t>, indicating strong synergy between vision and CLIP’s textual </a:t>
            </a:r>
            <a:r>
              <a:rPr kumimoji="0" lang="en-US" altLang="en-US" sz="16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6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panose="020B0604020202020204" pitchFamily="34" charset="0"/>
              </a:rPr>
              <a:t>The </a:t>
            </a:r>
            <a:r>
              <a:rPr kumimoji="0" lang="en-US" altLang="en-US" sz="1600" b="1" i="0" u="none" strike="noStrike" cap="none" normalizeH="0" baseline="0" dirty="0" smtClean="0">
                <a:ln>
                  <a:noFill/>
                </a:ln>
                <a:solidFill>
                  <a:schemeClr val="tx1"/>
                </a:solidFill>
                <a:effectLst/>
                <a:latin typeface="Arial" panose="020B0604020202020204" pitchFamily="34" charset="0"/>
              </a:rPr>
              <a:t>Roman-Urdu dataset</a:t>
            </a:r>
            <a:r>
              <a:rPr kumimoji="0" lang="en-US" altLang="en-US" sz="1600" b="0" i="0" u="none" strike="noStrike" cap="none" normalizeH="0" baseline="0" dirty="0" smtClean="0">
                <a:ln>
                  <a:noFill/>
                </a:ln>
                <a:solidFill>
                  <a:schemeClr val="tx1"/>
                </a:solidFill>
                <a:effectLst/>
                <a:latin typeface="Arial" panose="020B0604020202020204" pitchFamily="34" charset="0"/>
              </a:rPr>
              <a:t> serves as a viable testbed for language generalization, with potential for multilingual extension.</a:t>
            </a:r>
          </a:p>
        </p:txBody>
      </p:sp>
    </p:spTree>
    <p:extLst>
      <p:ext uri="{BB962C8B-B14F-4D97-AF65-F5344CB8AC3E}">
        <p14:creationId xmlns:p14="http://schemas.microsoft.com/office/powerpoint/2010/main" val="34483176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References</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57</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4154984"/>
          </a:xfrm>
          <a:prstGeom prst="rect">
            <a:avLst/>
          </a:prstGeom>
        </p:spPr>
        <p:txBody>
          <a:bodyPr wrap="square">
            <a:spAutoFit/>
          </a:bodyPr>
          <a:lstStyle/>
          <a:p>
            <a:pPr marL="342900" lvl="0" indent="-342900" algn="just">
              <a:buFont typeface="+mj-lt"/>
              <a:buAutoNum type="arabicPeriod"/>
            </a:pPr>
            <a:endParaRPr lang="en-US" sz="1600" dirty="0"/>
          </a:p>
          <a:p>
            <a:pPr marL="342900" lvl="0" indent="-342900" algn="just">
              <a:buFont typeface="+mj-lt"/>
              <a:buAutoNum type="arabicPeriod"/>
            </a:pPr>
            <a:r>
              <a:rPr lang="en-US" dirty="0" err="1"/>
              <a:t>Pramanick</a:t>
            </a:r>
            <a:r>
              <a:rPr lang="en-US" dirty="0"/>
              <a:t>, S., Sharma, S., </a:t>
            </a:r>
            <a:r>
              <a:rPr lang="en-US" dirty="0" err="1"/>
              <a:t>Dimitrov</a:t>
            </a:r>
            <a:r>
              <a:rPr lang="en-US" dirty="0"/>
              <a:t>, D., Akhtar, M. S., </a:t>
            </a:r>
            <a:r>
              <a:rPr lang="en-US" dirty="0" err="1"/>
              <a:t>Nakov</a:t>
            </a:r>
            <a:r>
              <a:rPr lang="en-US" dirty="0"/>
              <a:t>, P., &amp; Chakraborty, T. (2021). MOMENTA: A multimodal framework for detecting harmful memes and their targets. </a:t>
            </a:r>
            <a:r>
              <a:rPr lang="en-US" dirty="0" err="1"/>
              <a:t>arXiv</a:t>
            </a:r>
            <a:r>
              <a:rPr lang="en-US" dirty="0"/>
              <a:t> preprint </a:t>
            </a:r>
            <a:r>
              <a:rPr lang="en-US" dirty="0" smtClean="0"/>
              <a:t>arXiv:2109.05184</a:t>
            </a:r>
          </a:p>
          <a:p>
            <a:pPr marL="342900" lvl="0" indent="-342900" algn="just">
              <a:buFont typeface="+mj-lt"/>
              <a:buAutoNum type="arabicPeriod"/>
            </a:pPr>
            <a:endParaRPr lang="en-US" dirty="0" smtClean="0"/>
          </a:p>
          <a:p>
            <a:pPr marL="342900" indent="-342900" algn="just">
              <a:buFont typeface="+mj-lt"/>
              <a:buAutoNum type="arabicPeriod"/>
            </a:pPr>
            <a:r>
              <a:rPr lang="en-US" dirty="0"/>
              <a:t>Ma, M., Ren, J., Zhao, L., </a:t>
            </a:r>
            <a:r>
              <a:rPr lang="en-US" dirty="0" err="1"/>
              <a:t>Testuggine</a:t>
            </a:r>
            <a:r>
              <a:rPr lang="en-US" dirty="0"/>
              <a:t>, D., &amp; Peng, X. (2022). Are multimodal transformers robust to missing modality?. In Proceedings of the IEEE/CVF Conference on Computer Vision and Pattern Recognition (pp. 18177-18186).</a:t>
            </a:r>
          </a:p>
          <a:p>
            <a:pPr marL="342900" lvl="0" indent="-342900" algn="just">
              <a:buFont typeface="+mj-lt"/>
              <a:buAutoNum type="arabicPeriod"/>
            </a:pPr>
            <a:endParaRPr lang="en-US" sz="1600" dirty="0"/>
          </a:p>
          <a:p>
            <a:pPr marL="342900" lvl="0" indent="-342900" algn="just">
              <a:buFont typeface="+mj-lt"/>
              <a:buAutoNum type="arabicPeriod"/>
            </a:pPr>
            <a:r>
              <a:rPr lang="en-US" dirty="0" err="1"/>
              <a:t>Saad</a:t>
            </a:r>
            <a:r>
              <a:rPr lang="en-US" dirty="0"/>
              <a:t> Saeed, M., Nawaz, S., </a:t>
            </a:r>
            <a:r>
              <a:rPr lang="en-US" dirty="0" err="1"/>
              <a:t>Zaigham</a:t>
            </a:r>
            <a:r>
              <a:rPr lang="en-US" dirty="0"/>
              <a:t> </a:t>
            </a:r>
            <a:r>
              <a:rPr lang="en-US" dirty="0" err="1"/>
              <a:t>Zaheer</a:t>
            </a:r>
            <a:r>
              <a:rPr lang="en-US" dirty="0"/>
              <a:t>, M., </a:t>
            </a:r>
            <a:r>
              <a:rPr lang="en-US" dirty="0" err="1"/>
              <a:t>Haris</a:t>
            </a:r>
            <a:r>
              <a:rPr lang="en-US" dirty="0"/>
              <a:t> Khan, M., </a:t>
            </a:r>
            <a:r>
              <a:rPr lang="en-US" dirty="0" err="1"/>
              <a:t>Nandakumar</a:t>
            </a:r>
            <a:r>
              <a:rPr lang="en-US" dirty="0"/>
              <a:t>, K., Haroon </a:t>
            </a:r>
            <a:r>
              <a:rPr lang="en-US" dirty="0" err="1"/>
              <a:t>Yousaf</a:t>
            </a:r>
            <a:r>
              <a:rPr lang="en-US" dirty="0"/>
              <a:t>, M., ... &amp; </a:t>
            </a:r>
            <a:r>
              <a:rPr lang="en-US" dirty="0" err="1"/>
              <a:t>Schedl</a:t>
            </a:r>
            <a:r>
              <a:rPr lang="en-US" dirty="0"/>
              <a:t>, M. (2024). Modality Invariant Multimodal Learning to Handle Missing Modalities: A Single-Branch Approach. </a:t>
            </a:r>
            <a:r>
              <a:rPr lang="en-US" dirty="0" err="1"/>
              <a:t>arXiv</a:t>
            </a:r>
            <a:r>
              <a:rPr lang="en-US" dirty="0"/>
              <a:t> e-prints, arXiv-2408</a:t>
            </a:r>
            <a:r>
              <a:rPr lang="en-US" dirty="0" smtClean="0"/>
              <a:t>.</a:t>
            </a:r>
          </a:p>
          <a:p>
            <a:pPr marL="342900" lvl="0" indent="-342900" algn="just">
              <a:buFont typeface="+mj-lt"/>
              <a:buAutoNum type="arabicPeriod"/>
            </a:pPr>
            <a:endParaRPr lang="en-US" sz="1600" dirty="0"/>
          </a:p>
          <a:p>
            <a:pPr marL="342900" indent="-342900" algn="just">
              <a:buFont typeface="+mj-lt"/>
              <a:buAutoNum type="arabicPeriod"/>
            </a:pPr>
            <a:r>
              <a:rPr lang="en-US" dirty="0"/>
              <a:t>Hossain, E., Sharif, O., &amp; </a:t>
            </a:r>
            <a:r>
              <a:rPr lang="en-US" dirty="0" err="1"/>
              <a:t>Hoque</a:t>
            </a:r>
            <a:r>
              <a:rPr lang="en-US" dirty="0"/>
              <a:t>, M. M. (2022, November). Mute: A multimodal dataset for detecting hateful memes. In Proceedings of the 2nd conference of the </a:t>
            </a:r>
            <a:r>
              <a:rPr lang="en-US" dirty="0" err="1"/>
              <a:t>asia</a:t>
            </a:r>
            <a:r>
              <a:rPr lang="en-US" dirty="0"/>
              <a:t>-pacific chapter of the association for computational linguistics and the 12th international joint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52914" cy="1325563"/>
          </a:xfrm>
        </p:spPr>
        <p:txBody>
          <a:bodyPr/>
          <a:lstStyle/>
          <a:p>
            <a:r>
              <a:rPr lang="en-US" b="1" u="sng" dirty="0" smtClean="0">
                <a:solidFill>
                  <a:schemeClr val="accent1"/>
                </a:solidFill>
              </a:rPr>
              <a:t>References</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58</a:t>
            </a:fld>
            <a:endParaRPr lang="en-US" dirty="0"/>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670800"/>
            <a:ext cx="10667994" cy="2000548"/>
          </a:xfrm>
          <a:prstGeom prst="rect">
            <a:avLst/>
          </a:prstGeom>
        </p:spPr>
        <p:txBody>
          <a:bodyPr wrap="square">
            <a:spAutoFit/>
          </a:bodyPr>
          <a:lstStyle/>
          <a:p>
            <a:pPr marL="342900" lvl="0" indent="-342900" algn="just">
              <a:buFont typeface="+mj-lt"/>
              <a:buAutoNum type="arabicPeriod"/>
            </a:pPr>
            <a:endParaRPr lang="en-US" sz="1400" dirty="0"/>
          </a:p>
          <a:p>
            <a:pPr marL="342900" lvl="0" indent="-342900" algn="just">
              <a:buFont typeface="+mj-lt"/>
              <a:buAutoNum type="arabicPeriod" startAt="5"/>
            </a:pPr>
            <a:r>
              <a:rPr lang="en-US" sz="1600" dirty="0" err="1"/>
              <a:t>Suryawanshi</a:t>
            </a:r>
            <a:r>
              <a:rPr lang="en-US" sz="1600" dirty="0"/>
              <a:t>, S., </a:t>
            </a:r>
            <a:r>
              <a:rPr lang="en-US" sz="1600" dirty="0" err="1"/>
              <a:t>Chakravarthi</a:t>
            </a:r>
            <a:r>
              <a:rPr lang="en-US" sz="1600" dirty="0"/>
              <a:t>, B. R., </a:t>
            </a:r>
            <a:r>
              <a:rPr lang="en-US" sz="1600" dirty="0" err="1"/>
              <a:t>Verma</a:t>
            </a:r>
            <a:r>
              <a:rPr lang="en-US" sz="1600" dirty="0"/>
              <a:t>, P., </a:t>
            </a:r>
            <a:r>
              <a:rPr lang="en-US" sz="1600" dirty="0" err="1"/>
              <a:t>Arcan</a:t>
            </a:r>
            <a:r>
              <a:rPr lang="en-US" sz="1600" dirty="0"/>
              <a:t>, M., McCrae, J. P., &amp; </a:t>
            </a:r>
            <a:r>
              <a:rPr lang="en-US" sz="1600" dirty="0" err="1"/>
              <a:t>Buitelaar</a:t>
            </a:r>
            <a:r>
              <a:rPr lang="en-US" sz="1600" dirty="0"/>
              <a:t>, P. (2020). A Dataset for Troll Classification of </a:t>
            </a:r>
            <a:r>
              <a:rPr lang="en-US" sz="1600" dirty="0" err="1"/>
              <a:t>TamilMemes</a:t>
            </a:r>
            <a:r>
              <a:rPr lang="en-US" sz="1600" dirty="0"/>
              <a:t>. In Proceedings of the WILDRE5– 5th Workshop on Indian Language Data: Resources and Evaluation (pp. 7–13). European Language Resources Association (ELRA). https://aclanthology.org/2020.wildre-1.2/</a:t>
            </a:r>
          </a:p>
          <a:p>
            <a:pPr marL="342900" lvl="0" indent="-342900" algn="just">
              <a:buFont typeface="+mj-lt"/>
              <a:buAutoNum type="arabicPeriod" startAt="5"/>
            </a:pPr>
            <a:endParaRPr lang="en-US" sz="1600" dirty="0"/>
          </a:p>
          <a:p>
            <a:pPr marL="342900" indent="-342900" algn="just">
              <a:buFont typeface="+mj-lt"/>
              <a:buAutoNum type="arabicPeriod" startAt="5"/>
            </a:pPr>
            <a:r>
              <a:rPr lang="en-US" sz="1600" dirty="0"/>
              <a:t>Ma, M., Ren, J., Zhao, L., </a:t>
            </a:r>
            <a:r>
              <a:rPr lang="en-US" sz="1600" dirty="0" err="1"/>
              <a:t>Testuggine</a:t>
            </a:r>
            <a:r>
              <a:rPr lang="en-US" sz="1600" dirty="0"/>
              <a:t>, D., &amp; Peng, X. (2022). Are multimodal transformers robust to missing modality?. In Proceedings of the IEEE/CVF Conference on Computer Vision and Pattern Recognition (pp. 18177-18186).</a:t>
            </a:r>
          </a:p>
          <a:p>
            <a:pPr marL="342900" lvl="0" indent="-342900" algn="just">
              <a:buFont typeface="+mj-lt"/>
              <a:buAutoNum type="arabicPeriod" startAt="5"/>
            </a:pPr>
            <a:endParaRPr lang="en-US" sz="1400" dirty="0"/>
          </a:p>
        </p:txBody>
      </p:sp>
    </p:spTree>
    <p:extLst>
      <p:ext uri="{BB962C8B-B14F-4D97-AF65-F5344CB8AC3E}">
        <p14:creationId xmlns:p14="http://schemas.microsoft.com/office/powerpoint/2010/main" val="1749623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2406" y="2433075"/>
            <a:ext cx="2777197" cy="1325563"/>
          </a:xfrm>
        </p:spPr>
        <p:txBody>
          <a:bodyPr/>
          <a:lstStyle/>
          <a:p>
            <a:r>
              <a:rPr lang="en-US" dirty="0">
                <a:solidFill>
                  <a:srgbClr val="000000"/>
                </a:solidFill>
                <a:latin typeface="Times New Roman" panose="02020603050405020304" pitchFamily="18" charset="0"/>
              </a:rPr>
              <a:t>Thank You</a:t>
            </a:r>
            <a:endParaRPr lang="en-US"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93570" y="331971"/>
            <a:ext cx="1385664" cy="1385664"/>
          </a:xfrm>
        </p:spPr>
      </p:pic>
      <p:sp>
        <p:nvSpPr>
          <p:cNvPr id="5" name="Slide Number Placeholder 4"/>
          <p:cNvSpPr>
            <a:spLocks noGrp="1"/>
          </p:cNvSpPr>
          <p:nvPr>
            <p:ph type="sldNum" sz="quarter" idx="12"/>
          </p:nvPr>
        </p:nvSpPr>
        <p:spPr/>
        <p:txBody>
          <a:bodyPr/>
          <a:lstStyle/>
          <a:p>
            <a:fld id="{FCB64944-C185-42A3-B9E2-0C66306C0823}" type="slidenum">
              <a:rPr lang="en-US" smtClean="0"/>
              <a:t>59</a:t>
            </a:fld>
            <a:endParaRPr lang="en-US"/>
          </a:p>
        </p:txBody>
      </p:sp>
      <p:sp>
        <p:nvSpPr>
          <p:cNvPr id="6" name="Rectangle 5"/>
          <p:cNvSpPr/>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26609" y="112542"/>
            <a:ext cx="11915336" cy="6608933"/>
          </a:xfrm>
          <a:prstGeom prst="roundRect">
            <a:avLst/>
          </a:prstGeom>
          <a:noFill/>
          <a:ln cmpd="thinThick">
            <a:solidFill>
              <a:schemeClr val="accent1">
                <a:shade val="50000"/>
                <a:alpha val="7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811240" y="1828489"/>
            <a:ext cx="10667994" cy="646331"/>
          </a:xfrm>
          <a:prstGeom prst="rect">
            <a:avLst/>
          </a:prstGeom>
        </p:spPr>
        <p:txBody>
          <a:bodyPr wrap="square">
            <a:spAutoFit/>
          </a:bodyPr>
          <a:lstStyle/>
          <a:p>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3396</Words>
  <Application>Microsoft Office PowerPoint</Application>
  <PresentationFormat>Widescreen</PresentationFormat>
  <Paragraphs>692</Paragraphs>
  <Slides>59</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 Unicode MS</vt:lpstr>
      <vt:lpstr>Arial</vt:lpstr>
      <vt:lpstr>Calibri</vt:lpstr>
      <vt:lpstr>Calibri Light</vt:lpstr>
      <vt:lpstr>Platypi</vt:lpstr>
      <vt:lpstr>Source Serif Pro</vt:lpstr>
      <vt:lpstr>Times New Roman</vt:lpstr>
      <vt:lpstr>Office Theme</vt:lpstr>
      <vt:lpstr>FYP-2 Final Evaluation  </vt:lpstr>
      <vt:lpstr>PowerPoint Presentation</vt:lpstr>
      <vt:lpstr>LOGO</vt:lpstr>
      <vt:lpstr> Outline</vt:lpstr>
      <vt:lpstr>Project Introduction</vt:lpstr>
      <vt:lpstr>Policies</vt:lpstr>
      <vt:lpstr>Policies</vt:lpstr>
      <vt:lpstr>Use Case Diagram</vt:lpstr>
      <vt:lpstr>Domain Model Diagram</vt:lpstr>
      <vt:lpstr>Component Diagram</vt:lpstr>
      <vt:lpstr>Package Diagram</vt:lpstr>
      <vt:lpstr>JSON Tree Diagram</vt:lpstr>
      <vt:lpstr>System Sequence Diagram</vt:lpstr>
      <vt:lpstr>System Sequence Diagram</vt:lpstr>
      <vt:lpstr>System Sequence Diagram </vt:lpstr>
      <vt:lpstr>System Sequence Diagram </vt:lpstr>
      <vt:lpstr>System Sequence Diagram </vt:lpstr>
      <vt:lpstr>Activity Diagram </vt:lpstr>
      <vt:lpstr>Data Flow Diagram </vt:lpstr>
      <vt:lpstr>Data Flow Diagram </vt:lpstr>
      <vt:lpstr>Architecture Diagram</vt:lpstr>
      <vt:lpstr>Research</vt:lpstr>
      <vt:lpstr>Literature Review</vt:lpstr>
      <vt:lpstr>Literature Review</vt:lpstr>
      <vt:lpstr>Literature Review</vt:lpstr>
      <vt:lpstr>Literature Review</vt:lpstr>
      <vt:lpstr>Literature Review</vt:lpstr>
      <vt:lpstr>SBNET Diagram</vt:lpstr>
      <vt:lpstr>MBNET Diagram</vt:lpstr>
      <vt:lpstr>Dataset</vt:lpstr>
      <vt:lpstr>OCR and Text Extraction</vt:lpstr>
      <vt:lpstr>Examples</vt:lpstr>
      <vt:lpstr>Feature Extraction Approaches</vt:lpstr>
      <vt:lpstr>Model Evaluation and Results</vt:lpstr>
      <vt:lpstr>Selection of Feature Models</vt:lpstr>
      <vt:lpstr>Single-Branch Network Results</vt:lpstr>
      <vt:lpstr>Evaluation with Complete Modality (768-dim, 2-class, V1)</vt:lpstr>
      <vt:lpstr>Evaluation with Missing Modality (768-dim, 2-class, V1)</vt:lpstr>
      <vt:lpstr>Evaluation with Complete Modality (768-dim, 3-class, V1)</vt:lpstr>
      <vt:lpstr>Evaluation with Missing Modality (768-dim, 3-class, V1)</vt:lpstr>
      <vt:lpstr>Multi-Branch Network Results</vt:lpstr>
      <vt:lpstr>Evaluation with Complete Modality (768-dim, 2-class, V1)</vt:lpstr>
      <vt:lpstr>Evaluation with Missing Modality (768-dim, 2-class, V1)</vt:lpstr>
      <vt:lpstr>Evaluation with Complete Modality (768-dim, 3-class, V1)</vt:lpstr>
      <vt:lpstr>Evaluation with Missing Modality (768-dim, 3-class, V1)</vt:lpstr>
      <vt:lpstr>Single-Branch and Multi-Branch Results on Roman-Urdu Memes</vt:lpstr>
      <vt:lpstr>Roman-Urdu Memes Collection and Annotation Process</vt:lpstr>
      <vt:lpstr>Samples from Roman-Urdu Dataset</vt:lpstr>
      <vt:lpstr>Samples from Roman-Urdu Dataset</vt:lpstr>
      <vt:lpstr>Evaluation of Models on Roman-Urdu Memes Dataset</vt:lpstr>
      <vt:lpstr>SBNET Working</vt:lpstr>
      <vt:lpstr>MBNET Working</vt:lpstr>
      <vt:lpstr>MBNET Working</vt:lpstr>
      <vt:lpstr>Observations </vt:lpstr>
      <vt:lpstr>Observations </vt:lpstr>
      <vt:lpstr>Conclusion </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Omparkash Roy</cp:lastModifiedBy>
  <cp:revision>94</cp:revision>
  <dcterms:created xsi:type="dcterms:W3CDTF">2020-03-04T09:32:00Z</dcterms:created>
  <dcterms:modified xsi:type="dcterms:W3CDTF">2025-05-14T22:43:30Z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99B3D6A373694852AC161797819A37C4_13</vt:lpwstr>
  </property>
  <property fmtid="{D5CDD505-2E9C-101B-9397-08002B2CF9AE}" pid="3" name="KSOProductBuildVer">
    <vt:lpwstr>1033-12.2.0.19307</vt:lpwstr>
  </property>
</Properties>
</file>